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39128-2416-4020-9599-D4C805F203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Introducción a los análisis de datos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321022-8AE4-41BD-9E9F-3F6AC7896B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/>
              <a:t>Ing. Víctor Hernández Arias</a:t>
            </a:r>
          </a:p>
          <a:p>
            <a:r>
              <a:rPr lang="es-CO" dirty="0"/>
              <a:t>Diplomado en análisis de datos</a:t>
            </a:r>
          </a:p>
        </p:txBody>
      </p:sp>
    </p:spTree>
    <p:extLst>
      <p:ext uri="{BB962C8B-B14F-4D97-AF65-F5344CB8AC3E}">
        <p14:creationId xmlns:p14="http://schemas.microsoft.com/office/powerpoint/2010/main" val="1742648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E2C75-287A-4893-B383-2D6E30B17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F6B1DE-7F5C-4841-BE6E-805D82719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s-CO" sz="2800" dirty="0"/>
              <a:t>Conceptos básicos del análisis de datos.</a:t>
            </a:r>
          </a:p>
          <a:p>
            <a:pPr marL="457200" indent="-457200">
              <a:buAutoNum type="arabicPeriod"/>
            </a:pPr>
            <a:r>
              <a:rPr lang="es-CO" sz="2800" dirty="0"/>
              <a:t>Tipos de datos y estructuras de información.</a:t>
            </a:r>
          </a:p>
          <a:p>
            <a:pPr marL="457200" indent="-457200">
              <a:buAutoNum type="arabicPeriod"/>
            </a:pPr>
            <a:r>
              <a:rPr lang="es-CO" sz="2800" dirty="0"/>
              <a:t>Fuentes y recolección de datos.</a:t>
            </a:r>
          </a:p>
          <a:p>
            <a:pPr marL="457200" indent="-457200">
              <a:buAutoNum type="arabicPeriod"/>
            </a:pPr>
            <a:r>
              <a:rPr lang="es-CO" sz="2800" dirty="0"/>
              <a:t>Ciclo de vida del dato y fases del análisis.</a:t>
            </a:r>
          </a:p>
          <a:p>
            <a:pPr marL="457200" indent="-457200">
              <a:buAutoNum type="arabicPeriod"/>
            </a:pPr>
            <a:r>
              <a:rPr lang="es-CO" sz="2800" dirty="0"/>
              <a:t>Calidad, integridad y éticas de los datos.</a:t>
            </a:r>
          </a:p>
          <a:p>
            <a:pPr marL="457200" indent="-457200">
              <a:buAutoNum type="arabicPeriod"/>
            </a:pPr>
            <a:r>
              <a:rPr lang="es-CO" sz="2800" dirty="0"/>
              <a:t>Métodos y enfoques del análisis de datos.</a:t>
            </a:r>
          </a:p>
          <a:p>
            <a:pPr marL="457200" indent="-457200">
              <a:buAutoNum type="arabicPeriod"/>
            </a:pPr>
            <a:r>
              <a:rPr lang="es-CO" sz="2800" dirty="0"/>
              <a:t>Comunicación y visualización de resultados.</a:t>
            </a:r>
          </a:p>
          <a:p>
            <a:pPr marL="457200" indent="-457200">
              <a:buAutoNum type="arabicPeriod"/>
            </a:pPr>
            <a:r>
              <a:rPr lang="es-CO" sz="2800" dirty="0"/>
              <a:t>Rol del analista de datos y tendencias actuales.</a:t>
            </a:r>
          </a:p>
        </p:txBody>
      </p:sp>
    </p:spTree>
    <p:extLst>
      <p:ext uri="{BB962C8B-B14F-4D97-AF65-F5344CB8AC3E}">
        <p14:creationId xmlns:p14="http://schemas.microsoft.com/office/powerpoint/2010/main" val="2624056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696F2-58C2-4469-9A16-851E7660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1. Conceptos básicos del análisis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FB1E25-2CD8-4E84-8673-B492DAFE5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926080"/>
            <a:ext cx="10820400" cy="3292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800" dirty="0"/>
              <a:t>Objetivo de la sesión: </a:t>
            </a:r>
          </a:p>
          <a:p>
            <a:r>
              <a:rPr lang="es-MX" sz="2800" dirty="0"/>
              <a:t>Comprender los conceptos fundamentales del análisis de datos, su importancia en el contexto actual y cómo se diferencia de otros campos como la ciencia de datos o el Big Data.</a:t>
            </a:r>
          </a:p>
        </p:txBody>
      </p:sp>
    </p:spTree>
    <p:extLst>
      <p:ext uri="{BB962C8B-B14F-4D97-AF65-F5344CB8AC3E}">
        <p14:creationId xmlns:p14="http://schemas.microsoft.com/office/powerpoint/2010/main" val="282479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EBD9D-B409-4859-A7D9-CB2AA9A08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al concepto de dato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0DAE82-3FAF-44C3-8469-4BEACC270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38912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Dato:</a:t>
            </a:r>
            <a:r>
              <a:rPr lang="es-MX" sz="2400" dirty="0"/>
              <a:t> representación simbólica de un hecho, evento u observación (números, palabras, imágenes, registros, etc.).</a:t>
            </a:r>
            <a:br>
              <a:rPr lang="es-MX" sz="2400" dirty="0"/>
            </a:br>
            <a:r>
              <a:rPr lang="es-MX" sz="2400" dirty="0"/>
              <a:t>Ejemplo: “23 °C”, “Bogotá”, “10 000 COP”.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Información:</a:t>
            </a:r>
            <a:r>
              <a:rPr lang="es-MX" sz="2400" dirty="0"/>
              <a:t> conjunto de datos organizados y contextualizados que permiten responder preguntas o tomar decisiones.</a:t>
            </a:r>
            <a:br>
              <a:rPr lang="es-MX" sz="2400" dirty="0"/>
            </a:br>
            <a:r>
              <a:rPr lang="es-MX" sz="2400" dirty="0"/>
              <a:t>Ejemplo: “La temperatura promedio de Bogotá es 23 °C”.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Conocimiento:</a:t>
            </a:r>
            <a:r>
              <a:rPr lang="es-MX" sz="2400" dirty="0"/>
              <a:t> interpretación de la información que genera comprensión o acción.</a:t>
            </a:r>
            <a:br>
              <a:rPr lang="es-MX" sz="2400" dirty="0"/>
            </a:br>
            <a:r>
              <a:rPr lang="es-MX" sz="2400" dirty="0"/>
              <a:t>Ejemplo: “Si la temperatura promedio aumenta 2 °C, podría afectar el consumo de energía”.</a:t>
            </a:r>
          </a:p>
          <a:p>
            <a:r>
              <a:rPr lang="es-MX" sz="2400" i="1" dirty="0"/>
              <a:t>Los datos son la materia prima; la información es el producto intermedio; el conocimiento es el resultado final del análisis.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054772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F834A-9484-489E-B26A-47E92BB5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el análisis de datos?</a:t>
            </a:r>
            <a:endParaRPr lang="es-C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2E538B-AD25-4270-B5B3-5184AA2A90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057401"/>
            <a:ext cx="10629900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 el proceso sistemático de </a:t>
            </a: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examinar, limpiar, transformar e interpretar datos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obtener conclusiones útiles.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 propósito es </a:t>
            </a: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descubrir patrones, tendencias y relaciones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 apoyen la toma de decisiones.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 la práctica, el análisis de datos busca responder preguntas como: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¿Qué está ocurriendo? (análisis descriptivo)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¿Por qué está ocurriendo? (análisis diagnóstico)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¿Qué podría ocurrir? (análisis predictivo)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¿Qué se debe hacer? (análisis prescriptivo)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99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2A558-1136-43E2-8FFB-3E4B2A48C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Importancia del análisis de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BCC219-B55F-48D5-A807-816BACE9E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10" y="1548047"/>
            <a:ext cx="11346180" cy="52413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 dirty="0"/>
              <a:t>A nivel empresarial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Permite conocer el comportamiento de clientes, optimizar recursos y mejorar la rentabilidad.</a:t>
            </a:r>
            <a:br>
              <a:rPr lang="es-MX" sz="2400" dirty="0"/>
            </a:br>
            <a:r>
              <a:rPr lang="es-MX" sz="2400" dirty="0"/>
              <a:t>Ejemplo: identificar productos más vendidos o zonas de baja demanda.</a:t>
            </a:r>
          </a:p>
          <a:p>
            <a:pPr marL="0" indent="0">
              <a:buNone/>
            </a:pPr>
            <a:r>
              <a:rPr lang="es-MX" sz="2400" b="1" dirty="0"/>
              <a:t>A nivel social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Facilita la toma de decisiones en educación, salud o transporte.</a:t>
            </a:r>
            <a:br>
              <a:rPr lang="es-MX" sz="2400" dirty="0"/>
            </a:br>
            <a:r>
              <a:rPr lang="es-MX" sz="2400" dirty="0"/>
              <a:t>Ejemplo: usar datos de movilidad para planificar rutas seguras o sostenibles.</a:t>
            </a:r>
          </a:p>
          <a:p>
            <a:pPr marL="0" indent="0">
              <a:buNone/>
            </a:pPr>
            <a:r>
              <a:rPr lang="es-MX" sz="2400" b="1" dirty="0"/>
              <a:t>A nivel personal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Apoya la planificación financiera, el control del tiempo o la salud (aplicaciones móviles, wearables, etc.).</a:t>
            </a:r>
          </a:p>
          <a:p>
            <a:pPr marL="0" indent="0">
              <a:buNone/>
            </a:pPr>
            <a:r>
              <a:rPr lang="es-MX" sz="2400" b="1" dirty="0"/>
              <a:t>Sin datos no hay decisiones inteligentes.</a:t>
            </a:r>
            <a:r>
              <a:rPr lang="es-MX" sz="2400" dirty="0"/>
              <a:t> El análisis convierte la intuición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448685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175E6-6696-4419-BD41-07454B735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020" y="764373"/>
            <a:ext cx="9060180" cy="1293028"/>
          </a:xfrm>
        </p:spPr>
        <p:txBody>
          <a:bodyPr>
            <a:normAutofit fontScale="90000"/>
          </a:bodyPr>
          <a:lstStyle/>
          <a:p>
            <a:r>
              <a:rPr lang="es-MX" dirty="0"/>
              <a:t>Diferencias entre análisis de datos, ciencia de datos y Big Data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83138D-9710-4A61-9B8D-6796BFE3D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48841"/>
            <a:ext cx="10820400" cy="6629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dirty="0"/>
              <a:t>El análisis de datos es </a:t>
            </a:r>
            <a:r>
              <a:rPr lang="es-MX" sz="2400" b="1" dirty="0"/>
              <a:t>la base</a:t>
            </a:r>
            <a:r>
              <a:rPr lang="es-MX" sz="2400" dirty="0"/>
              <a:t> sobre la que se construyen la ciencia de datos y el Big Data.</a:t>
            </a:r>
            <a:endParaRPr lang="es-CO" sz="24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B377A80-4DA8-4400-988E-179FAA8C0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243168"/>
              </p:ext>
            </p:extLst>
          </p:nvPr>
        </p:nvGraphicFramePr>
        <p:xfrm>
          <a:off x="685800" y="2903221"/>
          <a:ext cx="10820400" cy="3657600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74345786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3281974815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586231476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3318785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Concepto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Enfoque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Objetivo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922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Análisis de datos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Examinar datos existentes para obtener conclusiones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Entender qué ocurre y por qué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Reportes de ventas, encuestas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6845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Ciencia de datos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Combina programación, estadística y aprendizaje automático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Predecir y generar modelos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Predicción de demanda o fraude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306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Big Data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Manejo de grandes volúmenes y diversidad de datos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Procesar información masiva en tiempo real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Redes sociales, </a:t>
                      </a:r>
                      <a:r>
                        <a:rPr lang="es-CO" dirty="0" err="1"/>
                        <a:t>IoT</a:t>
                      </a:r>
                      <a:r>
                        <a:rPr lang="es-CO" dirty="0"/>
                        <a:t>, sensores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012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962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C5DC91-24D2-459D-A058-458C2F13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Tipos de análisis de datos</a:t>
            </a:r>
            <a:endParaRPr lang="es-CO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FE95AD0-279F-47A2-9B2D-C4EFFE574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660689"/>
              </p:ext>
            </p:extLst>
          </p:nvPr>
        </p:nvGraphicFramePr>
        <p:xfrm>
          <a:off x="685800" y="2605881"/>
          <a:ext cx="10820400" cy="3749040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37281819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4119724706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3265259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Tipo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/>
                        <a:t>Propósito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8821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Descriptivo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Qué ocurrió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Informe mensual de ventas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1098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Diagnóstico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Por qué ocurrió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Comparar ventas por región o canal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87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Predictivo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Qué podría ocurrir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Estimar demanda futura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947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Prescriptivo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Qué se debe hacer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Recomendar estrategias de mejora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913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064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CAE08-6E36-42B9-A331-7A507C620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Rol del analista de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0DAB85-FBFF-4139-9C7D-D231B46E8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sz="2800" dirty="0"/>
              <a:t>El </a:t>
            </a:r>
            <a:r>
              <a:rPr lang="es-MX" sz="2800" b="1" dirty="0"/>
              <a:t>analista de datos</a:t>
            </a:r>
            <a:r>
              <a:rPr lang="es-MX" sz="2800" dirty="0"/>
              <a:t> es el profesional encargado de recolectar, organizar e interpretar información para apoyar decisiones.</a:t>
            </a:r>
            <a:br>
              <a:rPr lang="es-MX" sz="2800" dirty="0"/>
            </a:br>
            <a:r>
              <a:rPr lang="es-MX" sz="2800" dirty="0"/>
              <a:t>Requiere combinar:</a:t>
            </a:r>
          </a:p>
          <a:p>
            <a:pPr marL="0" indent="0">
              <a:buNone/>
            </a:pPr>
            <a:r>
              <a:rPr lang="es-MX" sz="2800" b="1" dirty="0"/>
              <a:t>Pensamiento analítico</a:t>
            </a:r>
            <a:r>
              <a:rPr lang="es-MX" sz="2800" dirty="0"/>
              <a:t> (preguntar, relacionar, cuestionar),</a:t>
            </a:r>
          </a:p>
          <a:p>
            <a:pPr marL="0" indent="0">
              <a:buNone/>
            </a:pPr>
            <a:r>
              <a:rPr lang="es-MX" sz="2800" b="1" dirty="0"/>
              <a:t>Conocimiento técnico</a:t>
            </a:r>
            <a:r>
              <a:rPr lang="es-MX" sz="2800" dirty="0"/>
              <a:t> (bases de datos, estadística, visualización),</a:t>
            </a:r>
          </a:p>
          <a:p>
            <a:pPr marL="0" indent="0">
              <a:buNone/>
            </a:pPr>
            <a:r>
              <a:rPr lang="es-MX" sz="2800" b="1" dirty="0"/>
              <a:t>Comunicación efectiva</a:t>
            </a:r>
            <a:r>
              <a:rPr lang="es-MX" sz="2800" dirty="0"/>
              <a:t> (presentar resultados con claridad).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97019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28129-D359-4363-B9E5-7D327842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Conceptos claves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826805F-4D41-455A-8FB6-60BFFFED4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857014"/>
              </p:ext>
            </p:extLst>
          </p:nvPr>
        </p:nvGraphicFramePr>
        <p:xfrm>
          <a:off x="685800" y="2377281"/>
          <a:ext cx="10820400" cy="3931920"/>
        </p:xfrm>
        <a:graphic>
          <a:graphicData uri="http://schemas.openxmlformats.org/drawingml/2006/table">
            <a:tbl>
              <a:tblPr/>
              <a:tblGrid>
                <a:gridCol w="5410200">
                  <a:extLst>
                    <a:ext uri="{9D8B030D-6E8A-4147-A177-3AD203B41FA5}">
                      <a16:colId xmlns:a16="http://schemas.microsoft.com/office/drawing/2014/main" val="3001590043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407694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 dirty="0"/>
                        <a:t>Término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Definición breve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02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dirty="0"/>
                        <a:t>Dato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Elemento básico de información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215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dirty="0"/>
                        <a:t>Información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Datos organizados y con contexto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67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dirty="0"/>
                        <a:t>Conocimiento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Interpretación que genera acción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247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dirty="0"/>
                        <a:t>Análisis de datos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Proceso para encontrar patrones e inferencias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49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dirty="0" err="1"/>
                        <a:t>Dataset</a:t>
                      </a:r>
                      <a:endParaRPr lang="es-CO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Conjunto estructurado de datos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39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dirty="0" err="1"/>
                        <a:t>Insight</a:t>
                      </a:r>
                      <a:endParaRPr lang="es-CO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Hallazgo relevante derivado del análisis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3819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032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F4C7B-6F43-45CA-B3B4-5EB4931F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2. Tipos de datos y estructuras de información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FF8D92-61B7-4C28-B212-012FC720B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20341"/>
            <a:ext cx="10820400" cy="3040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800" dirty="0"/>
              <a:t>Objetivo de la sesión:</a:t>
            </a:r>
          </a:p>
          <a:p>
            <a:r>
              <a:rPr lang="es-MX" sz="2800" dirty="0"/>
              <a:t>Identificar los diferentes tipos de datos que existen, su clasificación según naturaleza y estructura, y comprender cómo se organizan dentro de un conjunto de datos (</a:t>
            </a:r>
            <a:r>
              <a:rPr lang="es-MX" sz="2800" dirty="0" err="1"/>
              <a:t>dataset</a:t>
            </a:r>
            <a:r>
              <a:rPr lang="es-MX" sz="2800" dirty="0"/>
              <a:t>) para su análisis.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936615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E43F8-0DF4-4B89-AD14-EF8A34E47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0" y="581493"/>
            <a:ext cx="8610600" cy="1293028"/>
          </a:xfrm>
        </p:spPr>
        <p:txBody>
          <a:bodyPr/>
          <a:lstStyle/>
          <a:p>
            <a:r>
              <a:rPr lang="es-MX" dirty="0"/>
              <a:t>Qué son los datos y cómo se clasifican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95C971-5F08-4BDB-9C94-5DDE6498E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" y="1874521"/>
            <a:ext cx="11780520" cy="4983479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s-MX" sz="4500" dirty="0"/>
              <a:t>Los </a:t>
            </a:r>
            <a:r>
              <a:rPr lang="es-MX" sz="4500" b="1" dirty="0"/>
              <a:t>datos</a:t>
            </a:r>
            <a:r>
              <a:rPr lang="es-MX" sz="4500" dirty="0"/>
              <a:t> pueden adoptar múltiples formas: números, texto, imágenes, sonidos, registros de sensores o respuestas humanas.</a:t>
            </a:r>
            <a:br>
              <a:rPr lang="es-MX" sz="4500" dirty="0"/>
            </a:br>
            <a:r>
              <a:rPr lang="es-MX" sz="4500" dirty="0"/>
              <a:t>Su clasificación depende de </a:t>
            </a:r>
            <a:r>
              <a:rPr lang="es-MX" sz="4500" b="1" dirty="0"/>
              <a:t>cómo se representan</a:t>
            </a:r>
            <a:r>
              <a:rPr lang="es-MX" sz="4500" dirty="0"/>
              <a:t> y </a:t>
            </a:r>
            <a:r>
              <a:rPr lang="es-MX" sz="4500" b="1" dirty="0"/>
              <a:t>qué tipo de análisis permiten</a:t>
            </a:r>
            <a:r>
              <a:rPr lang="es-MX" sz="4500" dirty="0"/>
              <a:t>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s-MX" sz="4500" b="1" dirty="0"/>
              <a:t>Datos cualitativos:</a:t>
            </a:r>
            <a:r>
              <a:rPr lang="es-MX" sz="4500" dirty="0"/>
              <a:t> describen cualidades o características.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s-MX" sz="4500" i="1" dirty="0"/>
              <a:t>Ejemplo:</a:t>
            </a:r>
            <a:r>
              <a:rPr lang="es-MX" sz="4500" dirty="0"/>
              <a:t> color de un producto, ciudad de residencia, marca preferida.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s-MX" sz="4500" b="1" dirty="0"/>
              <a:t>Datos cuantitativos:</a:t>
            </a:r>
            <a:r>
              <a:rPr lang="es-MX" sz="4500" dirty="0"/>
              <a:t> expresan cantidades o medidas numéricas.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s-MX" sz="4500" i="1" dirty="0"/>
              <a:t>Ejemplo:</a:t>
            </a:r>
            <a:r>
              <a:rPr lang="es-MX" sz="4500" dirty="0"/>
              <a:t> edad, temperatura, ventas, velocidad, número de estudiantes.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10152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86064-5F1C-49E4-8F93-522A5EE0B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Tipos de datos cualitativos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6B2BB-9605-4B19-ADB6-DF019DDDF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960120"/>
          </a:xfrm>
        </p:spPr>
        <p:txBody>
          <a:bodyPr>
            <a:normAutofit/>
          </a:bodyPr>
          <a:lstStyle/>
          <a:p>
            <a:r>
              <a:rPr lang="es-MX" sz="2800" i="1" dirty="0"/>
              <a:t>Los datos cualitativos permiten clasificar, pero no calcular promedios o porcentajes exactos sin codificación previa.</a:t>
            </a:r>
            <a:endParaRPr lang="es-CO" sz="28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9326F6F-C8B4-4ADC-9FE4-D073C345E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337491"/>
              </p:ext>
            </p:extLst>
          </p:nvPr>
        </p:nvGraphicFramePr>
        <p:xfrm>
          <a:off x="685800" y="3291841"/>
          <a:ext cx="10820400" cy="2834640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1176438353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3607871776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547215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Tipo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/>
                        <a:t>Descripción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7706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Nominales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No tienen orden; solo agrupan categorías.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Género, ciudad, color.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288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Ordinales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Tienen un orden o jerarquía natural.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Nivel educativo (básico, medio, superior), satisfacción (alta, media, baja).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609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642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91DC0-DB76-4A75-85FA-E1EBD3C5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Tipos de datos cuantitativos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3A8C0B-4278-4767-BBA7-28AE23C0C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937260"/>
          </a:xfrm>
        </p:spPr>
        <p:txBody>
          <a:bodyPr>
            <a:normAutofit/>
          </a:bodyPr>
          <a:lstStyle/>
          <a:p>
            <a:r>
              <a:rPr lang="es-MX" sz="2800" dirty="0"/>
              <a:t>Los datos cuantitativos permiten cálculos matemáticos y estadísticos (promedio, desviación, correlación, etc.).</a:t>
            </a:r>
            <a:endParaRPr lang="es-CO" sz="28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AA978AF-5FCA-4DC4-A3C4-4B6B87AC8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698624"/>
              </p:ext>
            </p:extLst>
          </p:nvPr>
        </p:nvGraphicFramePr>
        <p:xfrm>
          <a:off x="685800" y="3383121"/>
          <a:ext cx="10820400" cy="2834640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349507285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425270626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399994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Tipo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/>
                        <a:t>Descripción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310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Discretos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Son contables; solo toman valores enteros.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Número de hijos, cantidad de ventas, fallas por día.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779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Continuos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Son medibles; pueden tener decimales.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Peso, temperatura, voltaje, tiempo de respuesta.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963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613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71060-CD95-43BE-A9DB-7F5A67D86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Tipos de datos según su estructura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F3930A-3A44-4D07-9E0F-8F7AEDF4E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502919"/>
          </a:xfrm>
        </p:spPr>
        <p:txBody>
          <a:bodyPr>
            <a:normAutofit/>
          </a:bodyPr>
          <a:lstStyle/>
          <a:p>
            <a:r>
              <a:rPr lang="es-MX" sz="2400" dirty="0"/>
              <a:t>En la práctica, un proyecto de análisis puede combinar los tres tipos.</a:t>
            </a:r>
            <a:endParaRPr lang="es-CO" sz="24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4361EA2-3564-4E9E-9C79-807DDA4CB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947220"/>
              </p:ext>
            </p:extLst>
          </p:nvPr>
        </p:nvGraphicFramePr>
        <p:xfrm>
          <a:off x="312420" y="2697480"/>
          <a:ext cx="11567160" cy="402336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270237901"/>
                    </a:ext>
                  </a:extLst>
                </a:gridCol>
                <a:gridCol w="4739640">
                  <a:extLst>
                    <a:ext uri="{9D8B030D-6E8A-4147-A177-3AD203B41FA5}">
                      <a16:colId xmlns:a16="http://schemas.microsoft.com/office/drawing/2014/main" val="3536733219"/>
                    </a:ext>
                  </a:extLst>
                </a:gridCol>
                <a:gridCol w="3855720">
                  <a:extLst>
                    <a:ext uri="{9D8B030D-6E8A-4147-A177-3AD203B41FA5}">
                      <a16:colId xmlns:a16="http://schemas.microsoft.com/office/drawing/2014/main" val="34563743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Tipo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Descripción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876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Estructurados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Organizados en filas y columnas (tablas, bases de datos, hojas de cálculo).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Facturas, registros académicos, sensores industriales.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505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Semiestructurados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No siguen un esquema rígido, pero tienen etiquetas o jerarquías.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Archivos JSON, XML, correos electrónicos.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069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No estructurados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No tienen formato fijo; requieren procesamiento avanzado.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Imágenes, videos, audios, publicaciones en redes sociales.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183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626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733BC-5F2F-4142-9C58-972FCBC64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Componentes básicos de un </a:t>
            </a:r>
            <a:r>
              <a:rPr lang="es-MX" dirty="0" err="1"/>
              <a:t>dataset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DCB825-A6A2-4B9C-A562-7648173B4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2331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/>
              <a:t>Un </a:t>
            </a:r>
            <a:r>
              <a:rPr lang="es-MX" sz="2400" b="1" dirty="0" err="1"/>
              <a:t>dataset</a:t>
            </a:r>
            <a:r>
              <a:rPr lang="es-MX" sz="2400" dirty="0"/>
              <a:t> es el conjunto de datos que se analiza. Está compuesto por: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Filas (registros):</a:t>
            </a:r>
            <a:r>
              <a:rPr lang="es-MX" sz="2400" dirty="0"/>
              <a:t> cada observación o caso individual.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Columnas (variables):</a:t>
            </a:r>
            <a:r>
              <a:rPr lang="es-MX" sz="2400" dirty="0"/>
              <a:t> características o atributos medidos.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Encabezados:</a:t>
            </a:r>
            <a:r>
              <a:rPr lang="es-MX" sz="2400" dirty="0"/>
              <a:t> nombres que identifican las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Celdas:</a:t>
            </a:r>
            <a:r>
              <a:rPr lang="es-MX" sz="2400" dirty="0"/>
              <a:t> valores individuales.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5116213-C758-416D-B6E8-723E9D666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039437"/>
              </p:ext>
            </p:extLst>
          </p:nvPr>
        </p:nvGraphicFramePr>
        <p:xfrm>
          <a:off x="685800" y="4722027"/>
          <a:ext cx="10820400" cy="1371600"/>
        </p:xfrm>
        <a:graphic>
          <a:graphicData uri="http://schemas.openxmlformats.org/drawingml/2006/table">
            <a:tbl>
              <a:tblPr/>
              <a:tblGrid>
                <a:gridCol w="2164080">
                  <a:extLst>
                    <a:ext uri="{9D8B030D-6E8A-4147-A177-3AD203B41FA5}">
                      <a16:colId xmlns:a16="http://schemas.microsoft.com/office/drawing/2014/main" val="2333238519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780076620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3793230068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3202334204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9672950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 dirty="0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/>
                        <a:t>nombre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/>
                        <a:t>edad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/>
                        <a:t>ciudad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ventas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129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Juan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Bogotá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4200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757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Medellín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3100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762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000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88018-43D5-45A7-8A25-ECA5481A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0" y="764373"/>
            <a:ext cx="9860280" cy="1293028"/>
          </a:xfrm>
        </p:spPr>
        <p:txBody>
          <a:bodyPr/>
          <a:lstStyle/>
          <a:p>
            <a:r>
              <a:rPr lang="es-MX" dirty="0"/>
              <a:t>Escalas de medición de los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7556BF-FFC9-44F3-AB2A-F47303984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160" y="1897382"/>
            <a:ext cx="10820400" cy="777240"/>
          </a:xfrm>
        </p:spPr>
        <p:txBody>
          <a:bodyPr>
            <a:normAutofit/>
          </a:bodyPr>
          <a:lstStyle/>
          <a:p>
            <a:r>
              <a:rPr lang="es-MX" sz="2400" i="1" dirty="0"/>
              <a:t>La escala de medición determina qué operaciones estadísticas se pueden aplicar.</a:t>
            </a:r>
            <a:endParaRPr lang="es-MX" sz="24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7C23658-8A0E-4C55-81D4-D33118195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157280"/>
              </p:ext>
            </p:extLst>
          </p:nvPr>
        </p:nvGraphicFramePr>
        <p:xfrm>
          <a:off x="685800" y="2674622"/>
          <a:ext cx="11247120" cy="3749040"/>
        </p:xfrm>
        <a:graphic>
          <a:graphicData uri="http://schemas.openxmlformats.org/drawingml/2006/table">
            <a:tbl>
              <a:tblPr/>
              <a:tblGrid>
                <a:gridCol w="1531620">
                  <a:extLst>
                    <a:ext uri="{9D8B030D-6E8A-4147-A177-3AD203B41FA5}">
                      <a16:colId xmlns:a16="http://schemas.microsoft.com/office/drawing/2014/main" val="2237002977"/>
                    </a:ext>
                  </a:extLst>
                </a:gridCol>
                <a:gridCol w="2354580">
                  <a:extLst>
                    <a:ext uri="{9D8B030D-6E8A-4147-A177-3AD203B41FA5}">
                      <a16:colId xmlns:a16="http://schemas.microsoft.com/office/drawing/2014/main" val="2842795538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1048783899"/>
                    </a:ext>
                  </a:extLst>
                </a:gridCol>
                <a:gridCol w="3131820">
                  <a:extLst>
                    <a:ext uri="{9D8B030D-6E8A-4147-A177-3AD203B41FA5}">
                      <a16:colId xmlns:a16="http://schemas.microsoft.com/office/drawing/2014/main" val="10633787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Escala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/>
                        <a:t>Tipo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/>
                        <a:t>Qué permite hacer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91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 dirty="0"/>
                        <a:t>Nominal</a:t>
                      </a:r>
                      <a:endParaRPr lang="es-CO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Cualitativa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Clasificar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Género, tipo de producto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390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Ordinal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Cualitativa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Ordenar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Nivel de satisfacción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08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Intervalo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Cuantitativa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Comparar diferencias, sin cero absoluto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Temperatura en 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083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Razón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Cuantitativa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Comparar proporciones (tiene cero absoluto)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Ingresos, peso, distancia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2212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643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D3F86-FAB2-4298-8A2E-97A4939A8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Ejemplos de aplicación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70DDC7-1133-4A5E-A64B-31AEBC87A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sz="2800" b="1" dirty="0"/>
              <a:t>Educación:</a:t>
            </a:r>
            <a:r>
              <a:rPr lang="es-MX" sz="2800" dirty="0"/>
              <a:t> calificaciones (razón), nivel académico (ordinal), institución (nominal).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/>
              <a:t>Energía:</a:t>
            </a:r>
            <a:r>
              <a:rPr lang="es-MX" sz="2800" dirty="0"/>
              <a:t> potencia (razón), tipo de fuente (nominal), eficiencia (intervalo).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/>
              <a:t>Negocios:</a:t>
            </a:r>
            <a:r>
              <a:rPr lang="es-MX" sz="2800" dirty="0"/>
              <a:t> ventas (razón), satisfacción del cliente (ordinal), canal de venta (nominal).</a:t>
            </a:r>
          </a:p>
          <a:p>
            <a:pPr marL="0" indent="0">
              <a:buNone/>
            </a:pPr>
            <a:r>
              <a:rPr lang="es-MX" sz="2800" dirty="0"/>
              <a:t>Un buen analista primero </a:t>
            </a:r>
            <a:r>
              <a:rPr lang="es-MX" sz="2800" b="1" dirty="0"/>
              <a:t>identifica el tipo de dato</a:t>
            </a:r>
            <a:r>
              <a:rPr lang="es-MX" sz="2800" dirty="0"/>
              <a:t>, porque eso define </a:t>
            </a:r>
            <a:r>
              <a:rPr lang="es-MX" sz="2800" b="1" dirty="0"/>
              <a:t>qué tipo de análisis puede realizar</a:t>
            </a:r>
            <a:r>
              <a:rPr lang="es-MX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646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BBF1D-BBCA-44E6-9F40-E444406EB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Representación y codificación de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07EBB8-4857-498F-899C-69E0A16EA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194561"/>
            <a:ext cx="11452860" cy="1554480"/>
          </a:xfrm>
        </p:spPr>
        <p:txBody>
          <a:bodyPr>
            <a:normAutofit/>
          </a:bodyPr>
          <a:lstStyle/>
          <a:p>
            <a:r>
              <a:rPr lang="es-MX" sz="2400" dirty="0"/>
              <a:t>En muchas ocasiones los datos cualitativos deben transformarse a valores numéricos para ser analizados por software (Python, SQL, </a:t>
            </a:r>
            <a:r>
              <a:rPr lang="es-MX" sz="2400" dirty="0" err="1"/>
              <a:t>Power</a:t>
            </a:r>
            <a:r>
              <a:rPr lang="es-MX" sz="2400" dirty="0"/>
              <a:t> BI).</a:t>
            </a:r>
          </a:p>
          <a:p>
            <a:r>
              <a:rPr lang="es-MX" sz="2400" dirty="0"/>
              <a:t>Este proceso se llama </a:t>
            </a:r>
            <a:r>
              <a:rPr lang="es-MX" sz="2400" b="1" dirty="0"/>
              <a:t>preparación o codificación de datos</a:t>
            </a:r>
            <a:r>
              <a:rPr lang="es-MX" sz="2400" dirty="0"/>
              <a:t>, y es fundamental antes de aplicar algoritmos o cálculos estadísticos.</a:t>
            </a:r>
            <a:endParaRPr lang="es-CO" sz="24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D17FB2B-B68A-45FB-97D1-14AECFC0C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364586"/>
              </p:ext>
            </p:extLst>
          </p:nvPr>
        </p:nvGraphicFramePr>
        <p:xfrm>
          <a:off x="659130" y="4264827"/>
          <a:ext cx="10820400" cy="1828800"/>
        </p:xfrm>
        <a:graphic>
          <a:graphicData uri="http://schemas.openxmlformats.org/drawingml/2006/table">
            <a:tbl>
              <a:tblPr/>
              <a:tblGrid>
                <a:gridCol w="5410200">
                  <a:extLst>
                    <a:ext uri="{9D8B030D-6E8A-4147-A177-3AD203B41FA5}">
                      <a16:colId xmlns:a16="http://schemas.microsoft.com/office/drawing/2014/main" val="3575406425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1562279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Ciudad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Código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688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/>
                        <a:t>Bogotá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368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/>
                        <a:t>Medellín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341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/>
                        <a:t>Cali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323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783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1039D-612B-4AF0-A433-F02BB219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Errores comunes al clasificar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B8EC0A-15A5-4E11-A1DD-EDDE904DA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20340"/>
            <a:ext cx="10820400" cy="3498345"/>
          </a:xfrm>
        </p:spPr>
        <p:txBody>
          <a:bodyPr>
            <a:normAutofit/>
          </a:bodyPr>
          <a:lstStyle/>
          <a:p>
            <a:r>
              <a:rPr lang="es-MX" sz="2800" dirty="0"/>
              <a:t>Confundir datos cualitativos con cuantitativos (ejemplo: “código postal” no es numérico en sentido analítico).</a:t>
            </a:r>
          </a:p>
          <a:p>
            <a:r>
              <a:rPr lang="es-MX" sz="2800" dirty="0"/>
              <a:t>Usar la escala incorrecta al analizar resultados (ejemplo: calcular promedio en variables nominales).</a:t>
            </a:r>
          </a:p>
          <a:p>
            <a:r>
              <a:rPr lang="es-MX" sz="2800" dirty="0"/>
              <a:t>Omitir variables categóricas importantes que explican el comportamiento de los datos.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830089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EC9E7-96B7-4B59-8767-BD792835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3. Fuentes y recolección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9E365C-081E-42AE-9CC9-ED382650D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620" y="2057401"/>
            <a:ext cx="11498580" cy="46863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O" sz="3000" dirty="0"/>
              <a:t>Objetivo de la sesión</a:t>
            </a:r>
          </a:p>
          <a:p>
            <a:r>
              <a:rPr lang="es-MX" sz="3000" dirty="0"/>
              <a:t>Reconocer las principales fuentes de datos y los métodos más comunes para su recolección, entendiendo la importancia de la validez, confiabilidad y representatividad en el proceso de análisis de datos.</a:t>
            </a:r>
          </a:p>
          <a:p>
            <a:pPr marL="0" indent="0">
              <a:buNone/>
            </a:pPr>
            <a:r>
              <a:rPr lang="es-MX" sz="3000" dirty="0"/>
              <a:t>¿Qué significa recolectar datos?</a:t>
            </a:r>
          </a:p>
          <a:p>
            <a:r>
              <a:rPr lang="es-MX" sz="3000" dirty="0"/>
              <a:t>La </a:t>
            </a:r>
            <a:r>
              <a:rPr lang="es-MX" sz="3000" b="1" dirty="0"/>
              <a:t>recolección de datos</a:t>
            </a:r>
            <a:r>
              <a:rPr lang="es-MX" sz="3000" dirty="0"/>
              <a:t> es el proceso de </a:t>
            </a:r>
            <a:r>
              <a:rPr lang="es-MX" sz="3000" b="1" dirty="0"/>
              <a:t>obtener información relevante</a:t>
            </a:r>
            <a:r>
              <a:rPr lang="es-MX" sz="3000" dirty="0"/>
              <a:t> para responder una pregunta o analizar un fenómeno.</a:t>
            </a:r>
            <a:br>
              <a:rPr lang="es-MX" sz="3000" dirty="0"/>
            </a:br>
            <a:r>
              <a:rPr lang="es-MX" sz="3000" dirty="0"/>
              <a:t>Es el primer paso del ciclo analítico y uno de los más críticos, porque </a:t>
            </a:r>
            <a:r>
              <a:rPr lang="es-MX" sz="3000" b="1" dirty="0"/>
              <a:t>un dato mal recolectado genera conclusiones erróneas</a:t>
            </a:r>
            <a:r>
              <a:rPr lang="es-MX" sz="3000" dirty="0"/>
              <a:t>.</a:t>
            </a:r>
          </a:p>
          <a:p>
            <a:pPr marL="0" indent="0">
              <a:buNone/>
            </a:pPr>
            <a:r>
              <a:rPr lang="es-MX" sz="3000" i="1" dirty="0"/>
              <a:t>“Un buen análisis solo es posible con una buena base de datos.”</a:t>
            </a:r>
            <a:endParaRPr lang="es-MX" sz="3000" dirty="0"/>
          </a:p>
          <a:p>
            <a:pPr marL="0" indent="0">
              <a:buNone/>
            </a:pP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562257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FB3FD-6F01-4A9C-A93E-ABF2834D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Tipos de fuentes de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133174-C8C7-482A-BE1B-A293D0A14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845820"/>
          </a:xfrm>
        </p:spPr>
        <p:txBody>
          <a:bodyPr>
            <a:normAutofit lnSpcReduction="10000"/>
          </a:bodyPr>
          <a:lstStyle/>
          <a:p>
            <a:r>
              <a:rPr lang="es-MX" sz="2800" b="1" dirty="0"/>
              <a:t>Elegir bien la fuente</a:t>
            </a:r>
            <a:r>
              <a:rPr lang="es-MX" sz="2800" dirty="0"/>
              <a:t> depende del objetivo del análisis, el presupuesto y la disponibilidad de información.</a:t>
            </a:r>
            <a:endParaRPr lang="es-CO" sz="28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72C41DE-92A1-4B30-9E27-C3EDF73F3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865181"/>
              </p:ext>
            </p:extLst>
          </p:nvPr>
        </p:nvGraphicFramePr>
        <p:xfrm>
          <a:off x="685800" y="3063241"/>
          <a:ext cx="10820400" cy="356616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4945634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1218229892"/>
                    </a:ext>
                  </a:extLst>
                </a:gridCol>
                <a:gridCol w="4099560">
                  <a:extLst>
                    <a:ext uri="{9D8B030D-6E8A-4147-A177-3AD203B41FA5}">
                      <a16:colId xmlns:a16="http://schemas.microsoft.com/office/drawing/2014/main" val="552282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Tipo de fuente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/>
                        <a:t>Descripción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Ejemplos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392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Primarias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Los datos se obtienen directamente del fenómeno o de los sujetos de estudio.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Encuestas, mediciones, sensores, entrevistas, experimentos.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480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Secundarias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Los datos fueron recolectados previamente por otras personas o instituciones.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Bases de datos públicas, informes, registros administrativos, estudios previos.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929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220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C3CDC-2F0B-436B-9AE2-E3FA02C2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2740" y="375753"/>
            <a:ext cx="8610600" cy="1293028"/>
          </a:xfrm>
        </p:spPr>
        <p:txBody>
          <a:bodyPr/>
          <a:lstStyle/>
          <a:p>
            <a:r>
              <a:rPr lang="es-MX" dirty="0"/>
              <a:t>Características de una fuente de datos confiable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D23B87F-09A6-4498-B756-8B8F2679C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503963"/>
              </p:ext>
            </p:extLst>
          </p:nvPr>
        </p:nvGraphicFramePr>
        <p:xfrm>
          <a:off x="232410" y="1828801"/>
          <a:ext cx="11727180" cy="48158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3108872355"/>
                    </a:ext>
                  </a:extLst>
                </a:gridCol>
                <a:gridCol w="4196080">
                  <a:extLst>
                    <a:ext uri="{9D8B030D-6E8A-4147-A177-3AD203B41FA5}">
                      <a16:colId xmlns:a16="http://schemas.microsoft.com/office/drawing/2014/main" val="38880704"/>
                    </a:ext>
                  </a:extLst>
                </a:gridCol>
                <a:gridCol w="4513580">
                  <a:extLst>
                    <a:ext uri="{9D8B030D-6E8A-4147-A177-3AD203B41FA5}">
                      <a16:colId xmlns:a16="http://schemas.microsoft.com/office/drawing/2014/main" val="32040056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Criterio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b="1"/>
                        <a:t>Significado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b="1" dirty="0"/>
                        <a:t>Ejemplo de verificación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233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Validez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El dato realmente mide lo que dice medir.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Si se mide “nivel de satisfacción”, la pregunta debe referirse a satisfacción, no a frecuencia.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691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Confiabilidad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El dato se repite bajo las mismas condiciones.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Si se mide temperatura con dos sensores, ambos deberían registrar valores similares.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06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Actualidad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Los datos están actualizados y no desfasados.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200"/>
                        <a:t>No usar censos antiguos o reportes descontinuados.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067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Representatividad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Los datos reflejan adecuadamente la realidad del conjunto.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 dirty="0"/>
                        <a:t>No usar una muestra sesgada (ej. solo un barrio para representar toda una ciudad).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649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649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0474B-26B2-47E1-83C6-39E0349B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Fuentes más comunes de datos en análisis profesional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77B3D32-3529-4C9C-A2BC-06E03508A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201524"/>
              </p:ext>
            </p:extLst>
          </p:nvPr>
        </p:nvGraphicFramePr>
        <p:xfrm>
          <a:off x="369570" y="2056766"/>
          <a:ext cx="11452860" cy="4656530"/>
        </p:xfrm>
        <a:graphic>
          <a:graphicData uri="http://schemas.openxmlformats.org/drawingml/2006/table">
            <a:tbl>
              <a:tblPr/>
              <a:tblGrid>
                <a:gridCol w="3817620">
                  <a:extLst>
                    <a:ext uri="{9D8B030D-6E8A-4147-A177-3AD203B41FA5}">
                      <a16:colId xmlns:a16="http://schemas.microsoft.com/office/drawing/2014/main" val="2386542683"/>
                    </a:ext>
                  </a:extLst>
                </a:gridCol>
                <a:gridCol w="3817620">
                  <a:extLst>
                    <a:ext uri="{9D8B030D-6E8A-4147-A177-3AD203B41FA5}">
                      <a16:colId xmlns:a16="http://schemas.microsoft.com/office/drawing/2014/main" val="1821094680"/>
                    </a:ext>
                  </a:extLst>
                </a:gridCol>
                <a:gridCol w="3817620">
                  <a:extLst>
                    <a:ext uri="{9D8B030D-6E8A-4147-A177-3AD203B41FA5}">
                      <a16:colId xmlns:a16="http://schemas.microsoft.com/office/drawing/2014/main" val="1066556340"/>
                    </a:ext>
                  </a:extLst>
                </a:gridCol>
              </a:tblGrid>
              <a:tr h="339433">
                <a:tc>
                  <a:txBody>
                    <a:bodyPr/>
                    <a:lstStyle/>
                    <a:p>
                      <a:r>
                        <a:rPr lang="es-CO" sz="1800" b="1"/>
                        <a:t>Tipo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Descripción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/>
                        <a:t>Ejemplo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937316"/>
                  </a:ext>
                </a:extLst>
              </a:tr>
              <a:tr h="848580">
                <a:tc>
                  <a:txBody>
                    <a:bodyPr/>
                    <a:lstStyle/>
                    <a:p>
                      <a:r>
                        <a:rPr lang="es-CO" sz="1800" b="1"/>
                        <a:t>Bases de datos empresariales</a:t>
                      </a:r>
                      <a:endParaRPr lang="es-CO" sz="1800"/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Información interna de ventas, clientes, inventarios, contabilidad.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ERP, CRM, sistemas de facturación.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260022"/>
                  </a:ext>
                </a:extLst>
              </a:tr>
              <a:tr h="848580">
                <a:tc>
                  <a:txBody>
                    <a:bodyPr/>
                    <a:lstStyle/>
                    <a:p>
                      <a:r>
                        <a:rPr lang="es-CO" sz="1800" b="1"/>
                        <a:t>Sensores y dispositivos IoT</a:t>
                      </a:r>
                      <a:endParaRPr lang="es-CO" sz="1800"/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Generan datos en tiempo real.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Sensores de energía, temperatura, tráfico, producción.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911462"/>
                  </a:ext>
                </a:extLst>
              </a:tr>
              <a:tr h="594006">
                <a:tc>
                  <a:txBody>
                    <a:bodyPr/>
                    <a:lstStyle/>
                    <a:p>
                      <a:r>
                        <a:rPr lang="es-CO" sz="1800" b="1"/>
                        <a:t>Registros administrativos</a:t>
                      </a:r>
                      <a:endParaRPr lang="es-CO" sz="1800"/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Datos oficiales recolectados por instituciones.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DANE, UPME, DIAN, Ministerio de Educación.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265002"/>
                  </a:ext>
                </a:extLst>
              </a:tr>
              <a:tr h="594006">
                <a:tc>
                  <a:txBody>
                    <a:bodyPr/>
                    <a:lstStyle/>
                    <a:p>
                      <a:r>
                        <a:rPr lang="es-CO" sz="1800" b="1"/>
                        <a:t>Encuestas y formularios</a:t>
                      </a:r>
                      <a:endParaRPr lang="es-CO" sz="1800"/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Datos recolectados directamente de personas.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Google Forms, encuestas de satisfacción, censos.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177416"/>
                  </a:ext>
                </a:extLst>
              </a:tr>
              <a:tr h="594006">
                <a:tc>
                  <a:txBody>
                    <a:bodyPr/>
                    <a:lstStyle/>
                    <a:p>
                      <a:r>
                        <a:rPr lang="es-CO" sz="1800" b="1"/>
                        <a:t>Redes sociales y web scraping</a:t>
                      </a:r>
                      <a:endParaRPr lang="es-CO" sz="1800"/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Información generada por usuarios o páginas web.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Twitter, LinkedIn, sitios de noticias.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027871"/>
                  </a:ext>
                </a:extLst>
              </a:tr>
              <a:tr h="594006">
                <a:tc>
                  <a:txBody>
                    <a:bodyPr/>
                    <a:lstStyle/>
                    <a:p>
                      <a:r>
                        <a:rPr lang="es-CO" sz="1800" b="1"/>
                        <a:t>Open Data (datos abiertos)</a:t>
                      </a:r>
                      <a:endParaRPr lang="es-CO" sz="1800"/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Portales públicos o institucionales.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/>
                        <a:t>datos.gov.co, Banco Mundial, </a:t>
                      </a:r>
                      <a:r>
                        <a:rPr lang="es-CO" sz="1800" dirty="0" err="1"/>
                        <a:t>Kaggle</a:t>
                      </a:r>
                      <a:r>
                        <a:rPr lang="es-CO" sz="1800" dirty="0"/>
                        <a:t> </a:t>
                      </a:r>
                      <a:r>
                        <a:rPr lang="es-CO" sz="1800" dirty="0" err="1"/>
                        <a:t>Datasets</a:t>
                      </a:r>
                      <a:r>
                        <a:rPr lang="es-CO" sz="1800" dirty="0"/>
                        <a:t>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881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270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87AFA-EA51-41C4-B4D8-8AB210CDE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70013"/>
            <a:ext cx="10226040" cy="1293028"/>
          </a:xfrm>
        </p:spPr>
        <p:txBody>
          <a:bodyPr/>
          <a:lstStyle/>
          <a:p>
            <a:r>
              <a:rPr lang="es-MX" dirty="0"/>
              <a:t>Métodos de recolección de datos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D5D51A3-1D7A-43EA-87AE-33A1B8047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479748"/>
              </p:ext>
            </p:extLst>
          </p:nvPr>
        </p:nvGraphicFramePr>
        <p:xfrm>
          <a:off x="323088" y="1321101"/>
          <a:ext cx="11545824" cy="5366886"/>
        </p:xfrm>
        <a:graphic>
          <a:graphicData uri="http://schemas.openxmlformats.org/drawingml/2006/table">
            <a:tbl>
              <a:tblPr/>
              <a:tblGrid>
                <a:gridCol w="2260092">
                  <a:extLst>
                    <a:ext uri="{9D8B030D-6E8A-4147-A177-3AD203B41FA5}">
                      <a16:colId xmlns:a16="http://schemas.microsoft.com/office/drawing/2014/main" val="2822605835"/>
                    </a:ext>
                  </a:extLst>
                </a:gridCol>
                <a:gridCol w="3512820">
                  <a:extLst>
                    <a:ext uri="{9D8B030D-6E8A-4147-A177-3AD203B41FA5}">
                      <a16:colId xmlns:a16="http://schemas.microsoft.com/office/drawing/2014/main" val="3972903733"/>
                    </a:ext>
                  </a:extLst>
                </a:gridCol>
                <a:gridCol w="2886456">
                  <a:extLst>
                    <a:ext uri="{9D8B030D-6E8A-4147-A177-3AD203B41FA5}">
                      <a16:colId xmlns:a16="http://schemas.microsoft.com/office/drawing/2014/main" val="1050268210"/>
                    </a:ext>
                  </a:extLst>
                </a:gridCol>
                <a:gridCol w="2886456">
                  <a:extLst>
                    <a:ext uri="{9D8B030D-6E8A-4147-A177-3AD203B41FA5}">
                      <a16:colId xmlns:a16="http://schemas.microsoft.com/office/drawing/2014/main" val="2174896378"/>
                    </a:ext>
                  </a:extLst>
                </a:gridCol>
              </a:tblGrid>
              <a:tr h="323123">
                <a:tc>
                  <a:txBody>
                    <a:bodyPr/>
                    <a:lstStyle/>
                    <a:p>
                      <a:r>
                        <a:rPr lang="es-CO" sz="2000" b="1"/>
                        <a:t>Método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/>
                        <a:t>Características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/>
                        <a:t>Ventajas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/>
                        <a:t>Desventajas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412966"/>
                  </a:ext>
                </a:extLst>
              </a:tr>
              <a:tr h="1051476">
                <a:tc>
                  <a:txBody>
                    <a:bodyPr/>
                    <a:lstStyle/>
                    <a:p>
                      <a:r>
                        <a:rPr lang="es-CO" sz="2000" b="1"/>
                        <a:t>Observación directa</a:t>
                      </a:r>
                      <a:endParaRPr lang="es-CO" sz="2000"/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Se registran comportamientos o eventos tal como ocurren.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Alta fidelidad de la realidad.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Puede ser costosa o lenta.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903718"/>
                  </a:ext>
                </a:extLst>
              </a:tr>
              <a:tr h="808692">
                <a:tc>
                  <a:txBody>
                    <a:bodyPr/>
                    <a:lstStyle/>
                    <a:p>
                      <a:r>
                        <a:rPr lang="es-CO" sz="2000" b="1"/>
                        <a:t>Encuestas / Cuestionarios</a:t>
                      </a:r>
                      <a:endParaRPr lang="es-CO" sz="2000"/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Recolecta respuestas estructuradas.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Rápida y fácil de aplicar digitalmente.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Riesgo de sesgo por interpretación del encuestado.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1014818"/>
                  </a:ext>
                </a:extLst>
              </a:tr>
              <a:tr h="808692">
                <a:tc>
                  <a:txBody>
                    <a:bodyPr/>
                    <a:lstStyle/>
                    <a:p>
                      <a:r>
                        <a:rPr lang="es-CO" sz="2000" b="1"/>
                        <a:t>Entrevistas / Focus groups</a:t>
                      </a:r>
                      <a:endParaRPr lang="es-CO" sz="2000"/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Conversación guiada para obtener percepciones.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Profundiza en aspectos cualitativos.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Subjetividad alta, menor cantidad de datos.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288925"/>
                  </a:ext>
                </a:extLst>
              </a:tr>
              <a:tr h="808692">
                <a:tc>
                  <a:txBody>
                    <a:bodyPr/>
                    <a:lstStyle/>
                    <a:p>
                      <a:r>
                        <a:rPr lang="es-CO" sz="2000" b="1"/>
                        <a:t>Instrumentación / Sensores</a:t>
                      </a:r>
                      <a:endParaRPr lang="es-CO" sz="2000"/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Datos generados automáticamente por equipos.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Gran precisión y volumen.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Costo y mantenimiento del sistema.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576191"/>
                  </a:ext>
                </a:extLst>
              </a:tr>
              <a:tr h="808692">
                <a:tc>
                  <a:txBody>
                    <a:bodyPr/>
                    <a:lstStyle/>
                    <a:p>
                      <a:r>
                        <a:rPr lang="es-MX" sz="2000" b="1"/>
                        <a:t>Extracción de datos (web scraping, APIs)</a:t>
                      </a:r>
                      <a:endParaRPr lang="es-MX" sz="2000"/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Obtiene información digital de fuentes en línea.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Acceso a grandes volúmenes.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dirty="0"/>
                        <a:t>Requiere conocimientos técnicos.</a:t>
                      </a:r>
                    </a:p>
                  </a:txBody>
                  <a:tcPr marL="70602" marR="70602" marT="35301" marB="35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276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963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DFDD36-D444-426C-8921-C864DA70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 práctico (contexto educativo o empresarial)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D18FC2-1BC0-49CE-92A2-8A581D271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2800" dirty="0"/>
              <a:t>Supongamos que una institución quiere analizar </a:t>
            </a:r>
            <a:r>
              <a:rPr lang="es-MX" sz="2800" b="1" dirty="0"/>
              <a:t>el rendimiento académico y asistencia de los estudiantes</a:t>
            </a:r>
            <a:r>
              <a:rPr lang="es-MX" sz="2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/>
              <a:t>Fuentes primarias:</a:t>
            </a:r>
            <a:r>
              <a:rPr lang="es-MX" sz="2800" dirty="0"/>
              <a:t> encuestas de satisfacción, registros de clases, sensores de ingreso.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/>
              <a:t>Fuentes secundarias:</a:t>
            </a:r>
            <a:r>
              <a:rPr lang="es-MX" sz="2800" dirty="0"/>
              <a:t> históricos académicos, estadísticas del Ministerio de Educación, informes de empleabilidad.</a:t>
            </a:r>
          </a:p>
          <a:p>
            <a:pPr marL="0" indent="0">
              <a:buNone/>
            </a:pPr>
            <a:r>
              <a:rPr lang="es-MX" sz="2800" dirty="0"/>
              <a:t>El analista debe combinar ambas para construir una visión completa y actualizada del fenómeno.</a:t>
            </a:r>
          </a:p>
        </p:txBody>
      </p:sp>
    </p:spTree>
    <p:extLst>
      <p:ext uri="{BB962C8B-B14F-4D97-AF65-F5344CB8AC3E}">
        <p14:creationId xmlns:p14="http://schemas.microsoft.com/office/powerpoint/2010/main" val="2655062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81079-864D-45FE-B118-9D501CF69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Formatos comunes de almacenamiento de datos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942346C-66EB-489C-A1BD-3C6FE2F21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936983"/>
              </p:ext>
            </p:extLst>
          </p:nvPr>
        </p:nvGraphicFramePr>
        <p:xfrm>
          <a:off x="289560" y="2057401"/>
          <a:ext cx="11612880" cy="457200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560690674"/>
                    </a:ext>
                  </a:extLst>
                </a:gridCol>
                <a:gridCol w="5501640">
                  <a:extLst>
                    <a:ext uri="{9D8B030D-6E8A-4147-A177-3AD203B41FA5}">
                      <a16:colId xmlns:a16="http://schemas.microsoft.com/office/drawing/2014/main" val="2895979561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769085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Formato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/>
                        <a:t>Descripción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Ejemplo / Uso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438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CSV (.csv)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400"/>
                        <a:t>Texto plano separado por comas, ideal para bases simples.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Exportaciones de Excel o sistemas.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811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Excel (.xlsx)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400"/>
                        <a:t>Hojas de cálculo para manejo manual.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Reportes administrativos.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520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JSON / XML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Datos jerárquicos, usados en APIs y web.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Comunicación entre sistemas.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723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SQL / SQLite / Access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Bases de datos relacionales.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Consultas estructuradas.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547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TXT / LOG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Registros sin formato.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Sensores o bitácoras automáticas.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472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658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EC091-9846-4C3E-84A3-937489C7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Ética y seguridad en la recolección de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C5D94D-6405-4B0E-9FB8-30C65BFD5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800" dirty="0"/>
              <a:t>Garantizar consentimiento informado de las personas involucradas.</a:t>
            </a:r>
          </a:p>
          <a:p>
            <a:r>
              <a:rPr lang="es-MX" sz="2800" dirty="0"/>
              <a:t>Evitar la manipulación o alteración de la información.</a:t>
            </a:r>
          </a:p>
          <a:p>
            <a:r>
              <a:rPr lang="es-MX" sz="2800" dirty="0"/>
              <a:t>Cumplir con las normas de protección de datos personales (Ley 1581 de 2012 en Colombia).</a:t>
            </a:r>
          </a:p>
          <a:p>
            <a:r>
              <a:rPr lang="es-MX" sz="2800" dirty="0"/>
              <a:t>No divulgar información sensible sin autorización.</a:t>
            </a:r>
          </a:p>
          <a:p>
            <a:pPr marL="0" indent="0">
              <a:buNone/>
            </a:pPr>
            <a:r>
              <a:rPr lang="es-MX" sz="2800" dirty="0"/>
              <a:t>Un buen analista no solo analiza, también protege y respeta los datos.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112733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2650F-A29F-457F-B71F-F49AC4441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4. Ciclo de vida del dato y fases del análisis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B21059-F9D4-4EAD-BDEB-98DC52987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423160"/>
            <a:ext cx="11132820" cy="4024125"/>
          </a:xfrm>
        </p:spPr>
        <p:txBody>
          <a:bodyPr>
            <a:normAutofit/>
          </a:bodyPr>
          <a:lstStyle/>
          <a:p>
            <a:r>
              <a:rPr lang="es-MX" sz="2400" b="1" dirty="0"/>
              <a:t> Objetivo de la sesión: </a:t>
            </a:r>
            <a:r>
              <a:rPr lang="es-MX" sz="2400" dirty="0"/>
              <a:t>Comprender las etapas del ciclo de vida de los datos, desde su generación hasta su uso final en la toma de decisiones, y reconocer las fases del análisis de datos dentro de ese ciclo.</a:t>
            </a:r>
          </a:p>
          <a:p>
            <a:pPr marL="0" indent="0">
              <a:buNone/>
            </a:pPr>
            <a:r>
              <a:rPr lang="es-MX" sz="2400" b="1" dirty="0"/>
              <a:t>Qué es el ciclo de vida del dato</a:t>
            </a:r>
          </a:p>
          <a:p>
            <a:pPr marL="0" indent="0">
              <a:buNone/>
            </a:pPr>
            <a:r>
              <a:rPr lang="es-MX" sz="2400" dirty="0"/>
              <a:t>El </a:t>
            </a:r>
            <a:r>
              <a:rPr lang="es-MX" sz="2400" b="1" dirty="0"/>
              <a:t>ciclo de vida del dato</a:t>
            </a:r>
            <a:r>
              <a:rPr lang="es-MX" sz="2400" dirty="0"/>
              <a:t> describe todas las etapas que atraviesa la información desde que se genera hasta que deja de ser útil.</a:t>
            </a:r>
            <a:br>
              <a:rPr lang="es-MX" sz="2400" dirty="0"/>
            </a:br>
            <a:r>
              <a:rPr lang="es-MX" sz="2400" dirty="0"/>
              <a:t>Este proceso es </a:t>
            </a:r>
            <a:r>
              <a:rPr lang="es-MX" sz="2400" b="1" dirty="0"/>
              <a:t>iterativo</a:t>
            </a:r>
            <a:r>
              <a:rPr lang="es-MX" sz="2400" dirty="0"/>
              <a:t>, es decir, una vez termina, puede volver a comenzar con nuevos datos o nuevas preguntas.</a:t>
            </a:r>
          </a:p>
          <a:p>
            <a:pPr marL="0" indent="0">
              <a:buNone/>
            </a:pPr>
            <a:r>
              <a:rPr lang="es-MX" sz="2400" i="1" dirty="0"/>
              <a:t>Entender este ciclo permite planificar, controlar y mejorar la gestión de la información.</a:t>
            </a:r>
            <a:endParaRPr lang="es-MX" sz="2400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27710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0FA3C-55B0-4144-86AD-55F145928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421473"/>
            <a:ext cx="9745980" cy="1293028"/>
          </a:xfrm>
        </p:spPr>
        <p:txBody>
          <a:bodyPr/>
          <a:lstStyle/>
          <a:p>
            <a:r>
              <a:rPr lang="es-MX" dirty="0"/>
              <a:t>Etapas del ciclo de vida del dato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FF7803C-4987-454A-B54D-6575E9D09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66803"/>
              </p:ext>
            </p:extLst>
          </p:nvPr>
        </p:nvGraphicFramePr>
        <p:xfrm>
          <a:off x="342900" y="1424017"/>
          <a:ext cx="11612880" cy="5229460"/>
        </p:xfrm>
        <a:graphic>
          <a:graphicData uri="http://schemas.openxmlformats.org/drawingml/2006/table">
            <a:tbl>
              <a:tblPr/>
              <a:tblGrid>
                <a:gridCol w="2674620">
                  <a:extLst>
                    <a:ext uri="{9D8B030D-6E8A-4147-A177-3AD203B41FA5}">
                      <a16:colId xmlns:a16="http://schemas.microsoft.com/office/drawing/2014/main" val="3035456956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4179280347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3012785032"/>
                    </a:ext>
                  </a:extLst>
                </a:gridCol>
              </a:tblGrid>
              <a:tr h="304825">
                <a:tc>
                  <a:txBody>
                    <a:bodyPr/>
                    <a:lstStyle/>
                    <a:p>
                      <a:r>
                        <a:rPr lang="es-CO" sz="2000" b="1"/>
                        <a:t>Etapa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/>
                        <a:t>Descripción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/>
                        <a:t>Ejemplo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5252412"/>
                  </a:ext>
                </a:extLst>
              </a:tr>
              <a:tr h="764870">
                <a:tc>
                  <a:txBody>
                    <a:bodyPr/>
                    <a:lstStyle/>
                    <a:p>
                      <a:r>
                        <a:rPr lang="es-CO" sz="2000" b="1"/>
                        <a:t>1. Creación o recolección</a:t>
                      </a:r>
                      <a:endParaRPr lang="es-CO" sz="2000"/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Los datos se generan o capturan desde diferentes fuentes.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Formularios, sensores, registros administrativos.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7528253"/>
                  </a:ext>
                </a:extLst>
              </a:tr>
              <a:tr h="534848">
                <a:tc>
                  <a:txBody>
                    <a:bodyPr/>
                    <a:lstStyle/>
                    <a:p>
                      <a:r>
                        <a:rPr lang="es-CO" sz="2000" b="1"/>
                        <a:t>2. Almacenamiento</a:t>
                      </a:r>
                      <a:endParaRPr lang="es-CO" sz="2000"/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Los datos se guardan en algún sistema o base.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000"/>
                        <a:t>Hojas de cálculo, bases SQL, servidores, nubes.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150447"/>
                  </a:ext>
                </a:extLst>
              </a:tr>
              <a:tr h="764870">
                <a:tc>
                  <a:txBody>
                    <a:bodyPr/>
                    <a:lstStyle/>
                    <a:p>
                      <a:r>
                        <a:rPr lang="es-CO" sz="2000" b="1"/>
                        <a:t>3. Procesamiento y limpieza</a:t>
                      </a:r>
                      <a:endParaRPr lang="es-CO" sz="2000"/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Se corrigen errores, eliminan duplicados y se normalizan formatos.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Ajuste de mayúsculas, fechas, unidades, valores faltantes.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8207075"/>
                  </a:ext>
                </a:extLst>
              </a:tr>
              <a:tr h="764870">
                <a:tc>
                  <a:txBody>
                    <a:bodyPr/>
                    <a:lstStyle/>
                    <a:p>
                      <a:r>
                        <a:rPr lang="es-CO" sz="2000" b="1"/>
                        <a:t>4. Análisis</a:t>
                      </a:r>
                      <a:endParaRPr lang="es-CO" sz="2000"/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Se examinan los datos para encontrar patrones, relaciones o tendencias.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Estadística, visualización, modelos predictivos.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94457"/>
                  </a:ext>
                </a:extLst>
              </a:tr>
              <a:tr h="534848">
                <a:tc>
                  <a:txBody>
                    <a:bodyPr/>
                    <a:lstStyle/>
                    <a:p>
                      <a:r>
                        <a:rPr lang="es-CO" sz="2000" b="1"/>
                        <a:t>5. Comunicación y uso</a:t>
                      </a:r>
                      <a:endParaRPr lang="es-CO" sz="2000"/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Se presentan los resultados para la toma de decisiones.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Informes, dashboards, reportes ejecutivos.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088749"/>
                  </a:ext>
                </a:extLst>
              </a:tr>
              <a:tr h="764870">
                <a:tc>
                  <a:txBody>
                    <a:bodyPr/>
                    <a:lstStyle/>
                    <a:p>
                      <a:r>
                        <a:rPr lang="es-CO" sz="2000" b="1"/>
                        <a:t>6. Archivado o eliminación</a:t>
                      </a:r>
                      <a:endParaRPr lang="es-CO" sz="2000"/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Los datos antiguos se almacenan o eliminan de forma segura.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Copias de respaldo, políticas de retención de datos.</a:t>
                      </a:r>
                    </a:p>
                  </a:txBody>
                  <a:tcPr marL="69385" marR="69385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499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0306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25556-1EB4-4526-83D4-688BF596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61453"/>
            <a:ext cx="8610600" cy="1293028"/>
          </a:xfrm>
        </p:spPr>
        <p:txBody>
          <a:bodyPr/>
          <a:lstStyle/>
          <a:p>
            <a:r>
              <a:rPr lang="es-MX" dirty="0"/>
              <a:t>Las fases del análisis de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88BFA7-7338-49DA-8DA2-A30E2F916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325881"/>
            <a:ext cx="10820400" cy="8458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800" dirty="0"/>
              <a:t>Si una etapa falla (por ejemplo, limpieza o validación), el análisis completo puede perder valor.</a:t>
            </a:r>
            <a:endParaRPr lang="es-CO" sz="28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7140F29-9770-4C41-949F-0073EE567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910051"/>
              </p:ext>
            </p:extLst>
          </p:nvPr>
        </p:nvGraphicFramePr>
        <p:xfrm>
          <a:off x="365760" y="2015970"/>
          <a:ext cx="11430000" cy="475059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399399064"/>
                    </a:ext>
                  </a:extLst>
                </a:gridCol>
                <a:gridCol w="3817620">
                  <a:extLst>
                    <a:ext uri="{9D8B030D-6E8A-4147-A177-3AD203B41FA5}">
                      <a16:colId xmlns:a16="http://schemas.microsoft.com/office/drawing/2014/main" val="375929364"/>
                    </a:ext>
                  </a:extLst>
                </a:gridCol>
                <a:gridCol w="4549140">
                  <a:extLst>
                    <a:ext uri="{9D8B030D-6E8A-4147-A177-3AD203B41FA5}">
                      <a16:colId xmlns:a16="http://schemas.microsoft.com/office/drawing/2014/main" val="3332846223"/>
                    </a:ext>
                  </a:extLst>
                </a:gridCol>
              </a:tblGrid>
              <a:tr h="541734">
                <a:tc>
                  <a:txBody>
                    <a:bodyPr/>
                    <a:lstStyle/>
                    <a:p>
                      <a:r>
                        <a:rPr lang="es-CO" sz="2000" b="1" dirty="0"/>
                        <a:t>Fase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/>
                        <a:t>Descripción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/>
                        <a:t>Herramientas o métodos comunes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881605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r>
                        <a:rPr lang="es-CO" sz="2000" b="1"/>
                        <a:t>1. Definición del problema</a:t>
                      </a:r>
                      <a:endParaRPr lang="es-CO" sz="2000"/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Formular una pregunta clara o un objetivo analítico.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dirty="0"/>
                        <a:t>Árbol de problemas.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743067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r>
                        <a:rPr lang="es-CO" sz="2000" b="1"/>
                        <a:t>2. Recolección de datos</a:t>
                      </a:r>
                      <a:endParaRPr lang="es-CO" sz="2000"/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Obtener datos relevantes y confiables.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Encuestas, bases institucionales, APIs.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05011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r>
                        <a:rPr lang="es-MX" sz="2000" b="1"/>
                        <a:t>3. Preparación y limpieza de datos</a:t>
                      </a:r>
                      <a:endParaRPr lang="es-MX" sz="2000"/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Corregir errores, vacíos y valores atípicos.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Excel, Python, SQL.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889173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r>
                        <a:rPr lang="es-CO" sz="2000" b="1"/>
                        <a:t>4. Análisis exploratorio</a:t>
                      </a:r>
                      <a:endParaRPr lang="es-CO" sz="2000"/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Examinar patrones iniciales y comportamientos generales.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Tablas dinámicas, gráficos, estadísticas básicas.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201051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r>
                        <a:rPr lang="pt-BR" sz="2000" b="1"/>
                        <a:t>5. Modelado o análisis profundo</a:t>
                      </a:r>
                      <a:endParaRPr lang="pt-BR" sz="2000"/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Aplicar técnicas estadísticas o predictivas.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Regresión, clustering, correlaciones.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0023967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r>
                        <a:rPr lang="es-CO" sz="2000" b="1"/>
                        <a:t>6. Comunicación de resultados</a:t>
                      </a:r>
                      <a:endParaRPr lang="es-CO" sz="2000"/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Traducir hallazgos en conclusiones útiles.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 err="1"/>
                        <a:t>Dashboards</a:t>
                      </a:r>
                      <a:r>
                        <a:rPr lang="es-MX" sz="2000" dirty="0"/>
                        <a:t>, informes ejecutivos, </a:t>
                      </a:r>
                      <a:r>
                        <a:rPr lang="es-MX" sz="2000" dirty="0" err="1"/>
                        <a:t>storytelling</a:t>
                      </a:r>
                      <a:r>
                        <a:rPr lang="es-MX" sz="2000" dirty="0"/>
                        <a:t> de datos.</a:t>
                      </a:r>
                    </a:p>
                  </a:txBody>
                  <a:tcPr marL="77391" marR="77391" marT="38695" marB="386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29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682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153BB-5FD5-4ED6-A159-D0A05065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 aplicado: análisis de consumo energético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F05FD7-FEDE-4F29-823A-74ACB1C6A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400" b="1" dirty="0"/>
              <a:t>Objetivo:</a:t>
            </a:r>
            <a:r>
              <a:rPr lang="es-MX" sz="2400" dirty="0"/>
              <a:t> conocer el consumo energético promedio de los laboratorios de una institución.</a:t>
            </a:r>
          </a:p>
          <a:p>
            <a:pPr>
              <a:buFont typeface="+mj-lt"/>
              <a:buAutoNum type="arabicPeriod"/>
            </a:pPr>
            <a:r>
              <a:rPr lang="es-MX" sz="2400" b="1" dirty="0"/>
              <a:t>Recolección:</a:t>
            </a:r>
            <a:r>
              <a:rPr lang="es-MX" sz="2400" dirty="0"/>
              <a:t> sensores registran consumo eléctrico diario.</a:t>
            </a:r>
          </a:p>
          <a:p>
            <a:pPr>
              <a:buFont typeface="+mj-lt"/>
              <a:buAutoNum type="arabicPeriod"/>
            </a:pPr>
            <a:r>
              <a:rPr lang="es-MX" sz="2400" b="1" dirty="0"/>
              <a:t>Almacenamiento:</a:t>
            </a:r>
            <a:r>
              <a:rPr lang="es-MX" sz="2400" dirty="0"/>
              <a:t> datos en formato CSV o base SQLite.</a:t>
            </a:r>
          </a:p>
          <a:p>
            <a:pPr>
              <a:buFont typeface="+mj-lt"/>
              <a:buAutoNum type="arabicPeriod"/>
            </a:pPr>
            <a:r>
              <a:rPr lang="es-MX" sz="2400" b="1" dirty="0"/>
              <a:t>Limpieza:</a:t>
            </a:r>
            <a:r>
              <a:rPr lang="es-MX" sz="2400" dirty="0"/>
              <a:t> eliminación de valores nulos o inconsistentes.</a:t>
            </a:r>
          </a:p>
          <a:p>
            <a:pPr>
              <a:buFont typeface="+mj-lt"/>
              <a:buAutoNum type="arabicPeriod"/>
            </a:pPr>
            <a:r>
              <a:rPr lang="es-MX" sz="2400" b="1" dirty="0"/>
              <a:t>Análisis:</a:t>
            </a:r>
            <a:r>
              <a:rPr lang="es-MX" sz="2400" dirty="0"/>
              <a:t> cálculo de promedios, identificación de picos de consumo.</a:t>
            </a:r>
          </a:p>
          <a:p>
            <a:pPr>
              <a:buFont typeface="+mj-lt"/>
              <a:buAutoNum type="arabicPeriod"/>
            </a:pPr>
            <a:r>
              <a:rPr lang="es-MX" sz="2400" b="1" dirty="0"/>
              <a:t>Comunicación:</a:t>
            </a:r>
            <a:r>
              <a:rPr lang="es-MX" sz="2400" dirty="0"/>
              <a:t> </a:t>
            </a:r>
            <a:r>
              <a:rPr lang="es-MX" sz="2400" dirty="0" err="1"/>
              <a:t>dashboard</a:t>
            </a:r>
            <a:r>
              <a:rPr lang="es-MX" sz="2400" dirty="0"/>
              <a:t> que muestra consumo diario, mensual y anual.</a:t>
            </a:r>
          </a:p>
          <a:p>
            <a:pPr>
              <a:buFont typeface="+mj-lt"/>
              <a:buAutoNum type="arabicPeriod"/>
            </a:pPr>
            <a:r>
              <a:rPr lang="es-MX" sz="2400" b="1" dirty="0"/>
              <a:t>Uso:</a:t>
            </a:r>
            <a:r>
              <a:rPr lang="es-MX" sz="2400" dirty="0"/>
              <a:t> la institución define estrategias de eficiencia energética.</a:t>
            </a:r>
          </a:p>
          <a:p>
            <a:pPr marL="0" indent="0">
              <a:buNone/>
            </a:pPr>
            <a:r>
              <a:rPr lang="es-MX" sz="2400" i="1" dirty="0"/>
              <a:t>Cada paso tiene un propósito y depende del anterior.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9043734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E2B97-465E-4A95-AFF2-1779A0D6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Importancia de documentar el ciclo de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C47F3-BBBD-45B7-8E34-57A858C34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800" dirty="0"/>
              <a:t>Un analista profesional debe documentar cada fase:</a:t>
            </a:r>
          </a:p>
          <a:p>
            <a:r>
              <a:rPr lang="es-MX" sz="2800" dirty="0"/>
              <a:t>Cómo se recolectaron los datos.</a:t>
            </a:r>
          </a:p>
          <a:p>
            <a:r>
              <a:rPr lang="es-MX" sz="2800" dirty="0"/>
              <a:t>Qué transformaciones se aplicaron.</a:t>
            </a:r>
          </a:p>
          <a:p>
            <a:r>
              <a:rPr lang="es-MX" sz="2800" dirty="0"/>
              <a:t>Qué variables se eliminaron o modificaron.</a:t>
            </a:r>
          </a:p>
          <a:p>
            <a:r>
              <a:rPr lang="es-MX" sz="2800" dirty="0"/>
              <a:t>Qué método de análisis se utilizó.</a:t>
            </a:r>
          </a:p>
          <a:p>
            <a:pPr marL="0" indent="0">
              <a:buNone/>
            </a:pPr>
            <a:r>
              <a:rPr lang="es-MX" sz="2800" dirty="0"/>
              <a:t>Esto garantiza transparencia, trazabilidad y reproducibilidad.</a:t>
            </a:r>
          </a:p>
          <a:p>
            <a:pPr marL="0" indent="0">
              <a:buNone/>
            </a:pPr>
            <a:r>
              <a:rPr lang="es-MX" sz="2800" dirty="0"/>
              <a:t>Un buen proyecto de datos no solo entrega resultados, también deja una ruta clara para repetir o validar el proceso.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9152894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E264F-E417-4978-BEDC-7D27711C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Buenas prácticas para cada fase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62FBBDF-213B-42A7-BE1F-E5B83651B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209821"/>
              </p:ext>
            </p:extLst>
          </p:nvPr>
        </p:nvGraphicFramePr>
        <p:xfrm>
          <a:off x="415290" y="2057401"/>
          <a:ext cx="11361420" cy="45110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130774153"/>
                    </a:ext>
                  </a:extLst>
                </a:gridCol>
                <a:gridCol w="8069580">
                  <a:extLst>
                    <a:ext uri="{9D8B030D-6E8A-4147-A177-3AD203B41FA5}">
                      <a16:colId xmlns:a16="http://schemas.microsoft.com/office/drawing/2014/main" val="18699843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600" b="1"/>
                        <a:t>Fase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600" b="1" dirty="0"/>
                        <a:t>Recomendaciones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242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600"/>
                        <a:t>Recolección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600"/>
                        <a:t>Verificar formato y fuente antes de importar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9547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600"/>
                        <a:t>Limpieza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600"/>
                        <a:t>Normalizar nombres de columnas y formatos de fecha.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35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600"/>
                        <a:t>Análisis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600"/>
                        <a:t>Usar gráficas para validar coherencia de resultados.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967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600"/>
                        <a:t>Comunicación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600"/>
                        <a:t>Usar lenguaje simple y visuales claros.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682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600" dirty="0"/>
                        <a:t>Archivado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600" dirty="0"/>
                        <a:t>Aplicar políticas de protección de datos y respaldos.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081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77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853DE-F764-4FB5-8B29-A1BA8B22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5. Calidad, integridad y ética en los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B3FEC1-CDDA-4C06-A085-00AB9A3E2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8920"/>
            <a:ext cx="10820400" cy="3429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800" b="1" dirty="0"/>
              <a:t>Objetivo de la sesión</a:t>
            </a:r>
          </a:p>
          <a:p>
            <a:r>
              <a:rPr lang="es-MX" sz="2800" dirty="0"/>
              <a:t>Reconocer la importancia de la calidad, integridad y ética en la gestión de datos, identificando los errores más comunes que afectan su confiabilidad y comprendiendo las implicaciones éticas del manejo de información.</a:t>
            </a:r>
          </a:p>
        </p:txBody>
      </p:sp>
    </p:spTree>
    <p:extLst>
      <p:ext uri="{BB962C8B-B14F-4D97-AF65-F5344CB8AC3E}">
        <p14:creationId xmlns:p14="http://schemas.microsoft.com/office/powerpoint/2010/main" val="6808041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D4389-313B-4CB6-B3BA-510FBDC2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Por qué es importante la calidad de los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E03A6C-C6DC-4DC8-86B9-52A3C69DD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113282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800" dirty="0"/>
              <a:t>Los </a:t>
            </a:r>
            <a:r>
              <a:rPr lang="es-MX" sz="2800" b="1" dirty="0"/>
              <a:t>datos de mala calidad</a:t>
            </a:r>
            <a:r>
              <a:rPr lang="es-MX" sz="2800" dirty="0"/>
              <a:t> producen decisiones incorrectas, modelos ineficientes y pérdida de confianza en los resultados.</a:t>
            </a:r>
            <a:br>
              <a:rPr lang="es-MX" sz="2800" dirty="0"/>
            </a:br>
            <a:r>
              <a:rPr lang="es-MX" sz="2800" dirty="0"/>
              <a:t>Un análisis es tan bueno como los datos en los que se basa.</a:t>
            </a:r>
          </a:p>
          <a:p>
            <a:r>
              <a:rPr lang="es-MX" sz="2800" i="1" dirty="0"/>
              <a:t>“</a:t>
            </a:r>
            <a:r>
              <a:rPr lang="es-MX" sz="2800" i="1" dirty="0" err="1"/>
              <a:t>Garbage</a:t>
            </a:r>
            <a:r>
              <a:rPr lang="es-MX" sz="2800" i="1" dirty="0"/>
              <a:t> in, </a:t>
            </a:r>
            <a:r>
              <a:rPr lang="es-MX" sz="2800" i="1" dirty="0" err="1"/>
              <a:t>garbage</a:t>
            </a:r>
            <a:r>
              <a:rPr lang="es-MX" sz="2800" i="1" dirty="0"/>
              <a:t> </a:t>
            </a:r>
            <a:r>
              <a:rPr lang="es-MX" sz="2800" i="1" dirty="0" err="1"/>
              <a:t>out</a:t>
            </a:r>
            <a:r>
              <a:rPr lang="es-MX" sz="2800" i="1" dirty="0"/>
              <a:t>”</a:t>
            </a:r>
            <a:r>
              <a:rPr lang="es-MX" sz="2800" dirty="0"/>
              <a:t> — si se introducen datos malos, los resultados también serán malos.</a:t>
            </a:r>
          </a:p>
          <a:p>
            <a:r>
              <a:rPr lang="es-MX" sz="2800" dirty="0"/>
              <a:t>Ejemplo:</a:t>
            </a:r>
            <a:br>
              <a:rPr lang="es-MX" sz="2800" dirty="0"/>
            </a:br>
            <a:r>
              <a:rPr lang="es-MX" sz="2800" dirty="0"/>
              <a:t>Si en una base de clientes hay duplicados, registros vacíos o errores en los nombres de ciudades, el análisis de ventas regionales será impreciso.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70461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CE645-B934-46A2-B254-512E56271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20838"/>
            <a:ext cx="10134600" cy="1293028"/>
          </a:xfrm>
        </p:spPr>
        <p:txBody>
          <a:bodyPr/>
          <a:lstStyle/>
          <a:p>
            <a:r>
              <a:rPr lang="es-MX" dirty="0"/>
              <a:t>Dimensiones de la calidad de datos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F6006C1-AC2B-4F18-9AE7-B33599B35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817009"/>
              </p:ext>
            </p:extLst>
          </p:nvPr>
        </p:nvGraphicFramePr>
        <p:xfrm>
          <a:off x="358140" y="1713866"/>
          <a:ext cx="11475720" cy="4971042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3718022326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3441457285"/>
                    </a:ext>
                  </a:extLst>
                </a:gridCol>
                <a:gridCol w="5189220">
                  <a:extLst>
                    <a:ext uri="{9D8B030D-6E8A-4147-A177-3AD203B41FA5}">
                      <a16:colId xmlns:a16="http://schemas.microsoft.com/office/drawing/2014/main" val="505551659"/>
                    </a:ext>
                  </a:extLst>
                </a:gridCol>
              </a:tblGrid>
              <a:tr h="349940">
                <a:tc>
                  <a:txBody>
                    <a:bodyPr/>
                    <a:lstStyle/>
                    <a:p>
                      <a:r>
                        <a:rPr lang="es-CO" sz="2200" b="1"/>
                        <a:t>Dimensión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b="1"/>
                        <a:t>Significado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b="1" dirty="0"/>
                        <a:t>Ejemplo / Verificación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1530418"/>
                  </a:ext>
                </a:extLst>
              </a:tr>
              <a:tr h="612395">
                <a:tc>
                  <a:txBody>
                    <a:bodyPr/>
                    <a:lstStyle/>
                    <a:p>
                      <a:r>
                        <a:rPr lang="es-CO" sz="2200" b="1"/>
                        <a:t>Exactitud</a:t>
                      </a:r>
                      <a:endParaRPr lang="es-CO" sz="2200"/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 dirty="0"/>
                        <a:t>El dato representa correctamente la realidad.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 dirty="0"/>
                        <a:t>¿El número de ventas coincide con las facturas?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747452"/>
                  </a:ext>
                </a:extLst>
              </a:tr>
              <a:tr h="612395">
                <a:tc>
                  <a:txBody>
                    <a:bodyPr/>
                    <a:lstStyle/>
                    <a:p>
                      <a:r>
                        <a:rPr lang="es-CO" sz="2200" b="1"/>
                        <a:t>Completitud</a:t>
                      </a:r>
                      <a:endParaRPr lang="es-CO" sz="2200"/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No hay campos vacíos ni información faltante.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Revisar columnas con celdas nulas.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34019"/>
                  </a:ext>
                </a:extLst>
              </a:tr>
              <a:tr h="612395">
                <a:tc>
                  <a:txBody>
                    <a:bodyPr/>
                    <a:lstStyle/>
                    <a:p>
                      <a:r>
                        <a:rPr lang="es-CO" sz="2200" b="1"/>
                        <a:t>Consistencia</a:t>
                      </a:r>
                      <a:endParaRPr lang="es-CO" sz="2200"/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Los valores no se contradicen entre sí.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La edad no puede ser 150 años.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769766"/>
                  </a:ext>
                </a:extLst>
              </a:tr>
              <a:tr h="612395">
                <a:tc>
                  <a:txBody>
                    <a:bodyPr/>
                    <a:lstStyle/>
                    <a:p>
                      <a:r>
                        <a:rPr lang="es-CO" sz="2200" b="1"/>
                        <a:t>Validez</a:t>
                      </a:r>
                      <a:endParaRPr lang="es-CO" sz="2200"/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Cumple con el formato o rango esperado.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El correo contiene “@” y dominio válido.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5811977"/>
                  </a:ext>
                </a:extLst>
              </a:tr>
              <a:tr h="612395">
                <a:tc>
                  <a:txBody>
                    <a:bodyPr/>
                    <a:lstStyle/>
                    <a:p>
                      <a:r>
                        <a:rPr lang="es-CO" sz="2200" b="1"/>
                        <a:t>Actualidad</a:t>
                      </a:r>
                      <a:endParaRPr lang="es-CO" sz="2200"/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Los datos están actualizados en el tiempo.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Reportes mensuales con fechas recientes.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810881"/>
                  </a:ext>
                </a:extLst>
              </a:tr>
              <a:tr h="406339">
                <a:tc>
                  <a:txBody>
                    <a:bodyPr/>
                    <a:lstStyle/>
                    <a:p>
                      <a:r>
                        <a:rPr lang="es-CO" sz="2200" b="1"/>
                        <a:t>Unicidad</a:t>
                      </a:r>
                      <a:endParaRPr lang="es-CO" sz="2200"/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/>
                        <a:t>No hay registros duplicados.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 dirty="0"/>
                        <a:t>Evitar que un mismo cliente aparezca dos veces.</a:t>
                      </a:r>
                    </a:p>
                  </a:txBody>
                  <a:tcPr marL="87485" marR="87485" marT="43743" marB="437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427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74571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BE9BC-A866-4B21-9F0D-2FFBFE0A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 de integridad de los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7E5ADF-807A-46C2-8F83-8B77FDC58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1234440"/>
          </a:xfrm>
        </p:spPr>
        <p:txBody>
          <a:bodyPr>
            <a:noAutofit/>
          </a:bodyPr>
          <a:lstStyle/>
          <a:p>
            <a:r>
              <a:rPr lang="es-MX" sz="2800" dirty="0"/>
              <a:t>La </a:t>
            </a:r>
            <a:r>
              <a:rPr lang="es-MX" sz="2800" b="1" dirty="0"/>
              <a:t>integridad</a:t>
            </a:r>
            <a:r>
              <a:rPr lang="es-MX" sz="2800" dirty="0"/>
              <a:t> garantiza que los datos no se alteren, pierdan o corrompan a lo largo de su ciclo de vida, Un sistema de datos íntegro es estructurado, trazable y seguro.</a:t>
            </a:r>
            <a:endParaRPr lang="es-CO" sz="28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ECFE314-B6A2-4658-B712-5C7E20DA3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683308"/>
              </p:ext>
            </p:extLst>
          </p:nvPr>
        </p:nvGraphicFramePr>
        <p:xfrm>
          <a:off x="434340" y="3794600"/>
          <a:ext cx="11338560" cy="2804160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1024752067"/>
                    </a:ext>
                  </a:extLst>
                </a:gridCol>
                <a:gridCol w="4221480">
                  <a:extLst>
                    <a:ext uri="{9D8B030D-6E8A-4147-A177-3AD203B41FA5}">
                      <a16:colId xmlns:a16="http://schemas.microsoft.com/office/drawing/2014/main" val="3125854951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478269097"/>
                    </a:ext>
                  </a:extLst>
                </a:gridCol>
              </a:tblGrid>
              <a:tr h="395174">
                <a:tc>
                  <a:txBody>
                    <a:bodyPr/>
                    <a:lstStyle/>
                    <a:p>
                      <a:r>
                        <a:rPr lang="es-CO" sz="2000" b="1"/>
                        <a:t>Tipo de integridad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/>
                        <a:t>Descripción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721628"/>
                  </a:ext>
                </a:extLst>
              </a:tr>
              <a:tr h="691555">
                <a:tc>
                  <a:txBody>
                    <a:bodyPr/>
                    <a:lstStyle/>
                    <a:p>
                      <a:r>
                        <a:rPr lang="es-CO" sz="2000" b="1"/>
                        <a:t>Integridad de entidad</a:t>
                      </a:r>
                      <a:endParaRPr lang="es-CO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Cada registro debe tener un identificador único.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En una base SQL, la “llave primaria” evita duplicados.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4360287"/>
                  </a:ext>
                </a:extLst>
              </a:tr>
              <a:tr h="987935">
                <a:tc>
                  <a:txBody>
                    <a:bodyPr/>
                    <a:lstStyle/>
                    <a:p>
                      <a:r>
                        <a:rPr lang="es-CO" sz="2000" b="1"/>
                        <a:t>Integridad referencial</a:t>
                      </a:r>
                      <a:endParaRPr lang="es-CO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Las relaciones entre tablas deben mantenerse coherentes.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Un pedido no puede referirse a un cliente inexistente.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898481"/>
                  </a:ext>
                </a:extLst>
              </a:tr>
              <a:tr h="691555">
                <a:tc>
                  <a:txBody>
                    <a:bodyPr/>
                    <a:lstStyle/>
                    <a:p>
                      <a:r>
                        <a:rPr lang="es-CO" sz="2000" b="1"/>
                        <a:t>Integridad de dominio</a:t>
                      </a:r>
                      <a:endParaRPr lang="es-CO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Los valores deben pertenecer al conjunto permitido.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El campo “ciudad” solo acepta nombres válidos.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302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603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76544-933B-45D5-8F7D-2E8CFD01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Errores comunes que deterioran la calidad de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C233B8-A9F1-45E2-AAEB-4E4B9363A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" y="1988822"/>
            <a:ext cx="11544300" cy="4800598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s-MX" sz="2800" dirty="0"/>
              <a:t>Duplicación de registros (cliente registrado dos veces).</a:t>
            </a:r>
          </a:p>
          <a:p>
            <a:pPr>
              <a:buFont typeface="+mj-lt"/>
              <a:buAutoNum type="arabicPeriod"/>
            </a:pPr>
            <a:r>
              <a:rPr lang="es-MX" sz="2800" dirty="0"/>
              <a:t>Omisión de valores importantes (sin fecha o sin monto).</a:t>
            </a:r>
          </a:p>
          <a:p>
            <a:pPr>
              <a:buFont typeface="+mj-lt"/>
              <a:buAutoNum type="arabicPeriod"/>
            </a:pPr>
            <a:r>
              <a:rPr lang="es-MX" sz="2800" dirty="0"/>
              <a:t>Formatos inconsistentes (mayúsculas, separadores, fechas).</a:t>
            </a:r>
          </a:p>
          <a:p>
            <a:pPr>
              <a:buFont typeface="+mj-lt"/>
              <a:buAutoNum type="arabicPeriod"/>
            </a:pPr>
            <a:r>
              <a:rPr lang="es-MX" sz="2800" dirty="0"/>
              <a:t>Codificaciones incorrectas (errores de UTF-8 o acentos).</a:t>
            </a:r>
          </a:p>
          <a:p>
            <a:pPr>
              <a:buFont typeface="+mj-lt"/>
              <a:buAutoNum type="arabicPeriod"/>
            </a:pPr>
            <a:r>
              <a:rPr lang="es-MX" sz="2800" dirty="0"/>
              <a:t>Actualización deficiente (archivos obsoletos o no sincronizados).</a:t>
            </a:r>
          </a:p>
          <a:p>
            <a:pPr>
              <a:buFont typeface="+mj-lt"/>
              <a:buAutoNum type="arabicPeriod"/>
            </a:pPr>
            <a:r>
              <a:rPr lang="es-MX" sz="2800" dirty="0"/>
              <a:t>Falta de control de versiones (no saber cuál es el archivo más reciente).</a:t>
            </a:r>
          </a:p>
          <a:p>
            <a:pPr marL="0" indent="0">
              <a:buNone/>
            </a:pPr>
            <a:r>
              <a:rPr lang="es-MX" sz="2800" i="1" dirty="0"/>
              <a:t>Estos errores son frecuentes en hojas Excel o bases institucionales y deben corregirse antes del análisis.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29608714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9B21D-D3C5-4089-9B00-7CE426058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0" y="764373"/>
            <a:ext cx="9243060" cy="1293028"/>
          </a:xfrm>
        </p:spPr>
        <p:txBody>
          <a:bodyPr>
            <a:normAutofit fontScale="90000"/>
          </a:bodyPr>
          <a:lstStyle/>
          <a:p>
            <a:r>
              <a:rPr lang="es-MX" dirty="0"/>
              <a:t>Legislación y normas en Colombia (y marco internacional)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4BD0A9A-3B68-4AE9-A1DD-4B7CD0D59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984103"/>
              </p:ext>
            </p:extLst>
          </p:nvPr>
        </p:nvGraphicFramePr>
        <p:xfrm>
          <a:off x="335280" y="2057401"/>
          <a:ext cx="11521440" cy="44805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3336085597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396795067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5981201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Norma / Ley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/>
                        <a:t>Enfoque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Entidad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7232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Ley 1581 de 2012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Protección de datos personales (Habeas Data).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SIC (Superintendencia de Industria y Comercio).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Decreto 1377 de 2013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Autorización para uso y tratamiento de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Gobierno Nacional.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ISO 27001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Seguridad de la información (internacional).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Organización Internacional de Normalización.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648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GDPR (Unión Europea)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Reglamento general de protección de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UE.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021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0718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7278B-291A-4C75-B277-194754132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Casos reales y lecciones aprendidas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9F65510-40BC-4984-8E60-40ED47375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522099"/>
              </p:ext>
            </p:extLst>
          </p:nvPr>
        </p:nvGraphicFramePr>
        <p:xfrm>
          <a:off x="685800" y="2537301"/>
          <a:ext cx="10820400" cy="3657600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1748536946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896532842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618632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Caso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/>
                        <a:t>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Consecuencia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369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400"/>
                        <a:t>Filtración de datos de usuarios de Facebook (2018)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Uso indebido de datos personales.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Multas millonarias y pérdida de confianza.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928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400"/>
                        <a:t>Datos erróneos en censos de población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Inconsistencias por errores de registro.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Políticas públicas equivocadas.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374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400"/>
                        <a:t>Base de datos sin respaldo en una empresa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Pérdida total de registros históricos.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Impacto económico y reputacional.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705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9447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6B5F6-F9CB-409D-B8E9-49F1ADB3B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Buenas prácticas para garantizar calidad y ética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4A994B-7530-4693-921C-F15B01E20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s-MX" sz="2400" dirty="0"/>
              <a:t>Validar los datos al momento de su ingreso o importación.</a:t>
            </a:r>
          </a:p>
          <a:p>
            <a:pPr>
              <a:buFont typeface="+mj-lt"/>
              <a:buAutoNum type="arabicPeriod"/>
            </a:pPr>
            <a:r>
              <a:rPr lang="es-MX" sz="2400" dirty="0"/>
              <a:t>Estandarizar nombres, formatos y unidades.</a:t>
            </a:r>
          </a:p>
          <a:p>
            <a:pPr>
              <a:buFont typeface="+mj-lt"/>
              <a:buAutoNum type="arabicPeriod"/>
            </a:pPr>
            <a:r>
              <a:rPr lang="es-MX" sz="2400" dirty="0"/>
              <a:t>Documentar los pasos de limpieza y transformación.</a:t>
            </a:r>
          </a:p>
          <a:p>
            <a:pPr>
              <a:buFont typeface="+mj-lt"/>
              <a:buAutoNum type="arabicPeriod"/>
            </a:pPr>
            <a:r>
              <a:rPr lang="es-MX" sz="2400" dirty="0"/>
              <a:t>Mantener copias de seguridad actualizadas.</a:t>
            </a:r>
          </a:p>
          <a:p>
            <a:pPr>
              <a:buFont typeface="+mj-lt"/>
              <a:buAutoNum type="arabicPeriod"/>
            </a:pPr>
            <a:r>
              <a:rPr lang="es-MX" sz="2400" dirty="0"/>
              <a:t>Usar contraseñas y accesos diferenciados por roles.</a:t>
            </a:r>
          </a:p>
          <a:p>
            <a:pPr>
              <a:buFont typeface="+mj-lt"/>
              <a:buAutoNum type="arabicPeriod"/>
            </a:pPr>
            <a:r>
              <a:rPr lang="es-MX" sz="2400" dirty="0"/>
              <a:t>Anonimizar datos personales antes del análisis.</a:t>
            </a:r>
          </a:p>
          <a:p>
            <a:pPr>
              <a:buFont typeface="+mj-lt"/>
              <a:buAutoNum type="arabicPeriod"/>
            </a:pPr>
            <a:r>
              <a:rPr lang="es-MX" sz="2400" dirty="0"/>
              <a:t>Revisar periódicamente la vigencia de la información.</a:t>
            </a:r>
          </a:p>
          <a:p>
            <a:pPr marL="0" indent="0">
              <a:buNone/>
            </a:pPr>
            <a:r>
              <a:rPr lang="es-MX" sz="2400" i="1" dirty="0"/>
              <a:t>Estas prácticas deben convertirse en hábito de trabajo diario del analista.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15665721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12F00-B7A2-4238-880E-C7C40805D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0" y="330033"/>
            <a:ext cx="8648700" cy="1293028"/>
          </a:xfrm>
        </p:spPr>
        <p:txBody>
          <a:bodyPr>
            <a:normAutofit/>
          </a:bodyPr>
          <a:lstStyle/>
          <a:p>
            <a:r>
              <a:rPr lang="es-CO" sz="4000" dirty="0"/>
              <a:t>6. Métodos del análisis de datos.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F75DFF-B00E-4008-A4C4-717BE4684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333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800" b="1" dirty="0"/>
              <a:t>Objetivo de la sesión: </a:t>
            </a:r>
            <a:r>
              <a:rPr lang="es-MX" sz="2800" dirty="0"/>
              <a:t>Comprender los diferentes métodos y enfoques utilizados en el análisis de datos, reconociendo las características, alcances y aplicaciones de los tipos de análisis más comunes.</a:t>
            </a:r>
          </a:p>
          <a:p>
            <a:pPr marL="0" indent="0">
              <a:buNone/>
            </a:pPr>
            <a:r>
              <a:rPr lang="es-MX" sz="2800" b="1" dirty="0"/>
              <a:t>¿Qué son los métodos de análisis de datos?</a:t>
            </a:r>
          </a:p>
          <a:p>
            <a:r>
              <a:rPr lang="es-MX" sz="2800" dirty="0"/>
              <a:t>Los </a:t>
            </a:r>
            <a:r>
              <a:rPr lang="es-MX" sz="2800" b="1" dirty="0"/>
              <a:t>métodos de análisis de datos</a:t>
            </a:r>
            <a:r>
              <a:rPr lang="es-MX" sz="2800" dirty="0"/>
              <a:t> son las estrategias o procedimientos que se aplican para </a:t>
            </a:r>
            <a:r>
              <a:rPr lang="es-MX" sz="2800" b="1" dirty="0"/>
              <a:t>examinar, interpretar y extraer conclusiones</a:t>
            </a:r>
            <a:r>
              <a:rPr lang="es-MX" sz="2800" dirty="0"/>
              <a:t> a partir de la información disponible.</a:t>
            </a:r>
          </a:p>
          <a:p>
            <a:pPr marL="0" indent="0">
              <a:buNone/>
            </a:pPr>
            <a:r>
              <a:rPr lang="es-MX" sz="2800" dirty="0"/>
              <a:t>En otras palabras, son las “rutas” que usa el analista para transformar datos en conocimiento.</a:t>
            </a:r>
          </a:p>
        </p:txBody>
      </p:sp>
    </p:spTree>
    <p:extLst>
      <p:ext uri="{BB962C8B-B14F-4D97-AF65-F5344CB8AC3E}">
        <p14:creationId xmlns:p14="http://schemas.microsoft.com/office/powerpoint/2010/main" val="11909349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09238-D544-490C-9644-D7EAFA28C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1320" y="604354"/>
            <a:ext cx="8610600" cy="1293028"/>
          </a:xfrm>
        </p:spPr>
        <p:txBody>
          <a:bodyPr/>
          <a:lstStyle/>
          <a:p>
            <a:r>
              <a:rPr lang="es-MX" dirty="0"/>
              <a:t>Tipos de análisis de datos según su propósito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C95745E-4C95-40C5-B1AE-79B38659C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748669"/>
              </p:ext>
            </p:extLst>
          </p:nvPr>
        </p:nvGraphicFramePr>
        <p:xfrm>
          <a:off x="209550" y="1897382"/>
          <a:ext cx="11772900" cy="4815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41003371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1967869707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31314355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6501225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Tipo de análisis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b="1"/>
                        <a:t>Pregunta que responde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b="1"/>
                        <a:t>Características principales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b="1" dirty="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533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Descriptivo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/>
                        <a:t>¿Qué pasó?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Resume los datos y muestra tendencias.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Promedio de ventas, consumo por mes.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039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Diagnóstico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/>
                        <a:t>¿Por qué pasó?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/>
                        <a:t>Busca causas o relaciones entre variables.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Análisis de baja de ventas por región.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883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Predictivo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/>
                        <a:t>¿Qué podría pasar?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/>
                        <a:t>Utiliza modelos estadísticos o de machine learning.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Predicción de demanda o fallas técnicas.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7318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Prescriptivo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/>
                        <a:t>¿Qué debería hacerse?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Propone acciones basadas en los resultados.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dirty="0"/>
                        <a:t>Recomendaciones para optimizar consumo energético.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936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2153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C885E-3678-4A93-9112-B6793B627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Métodos estadísticos más comunes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0CC613E-19AA-43E4-8C14-ABCF9C2F7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810776"/>
              </p:ext>
            </p:extLst>
          </p:nvPr>
        </p:nvGraphicFramePr>
        <p:xfrm>
          <a:off x="243840" y="2057401"/>
          <a:ext cx="11704320" cy="4572000"/>
        </p:xfrm>
        <a:graphic>
          <a:graphicData uri="http://schemas.openxmlformats.org/drawingml/2006/table">
            <a:tbl>
              <a:tblPr/>
              <a:tblGrid>
                <a:gridCol w="2613660">
                  <a:extLst>
                    <a:ext uri="{9D8B030D-6E8A-4147-A177-3AD203B41FA5}">
                      <a16:colId xmlns:a16="http://schemas.microsoft.com/office/drawing/2014/main" val="4292342631"/>
                    </a:ext>
                  </a:extLst>
                </a:gridCol>
                <a:gridCol w="4274820">
                  <a:extLst>
                    <a:ext uri="{9D8B030D-6E8A-4147-A177-3AD203B41FA5}">
                      <a16:colId xmlns:a16="http://schemas.microsoft.com/office/drawing/2014/main" val="1574994122"/>
                    </a:ext>
                  </a:extLst>
                </a:gridCol>
                <a:gridCol w="4815840">
                  <a:extLst>
                    <a:ext uri="{9D8B030D-6E8A-4147-A177-3AD203B41FA5}">
                      <a16:colId xmlns:a16="http://schemas.microsoft.com/office/drawing/2014/main" val="1458649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Método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b="1"/>
                        <a:t>Descripción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b="1" dirty="0"/>
                        <a:t>Aplicación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417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Análisis descriptivo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Resumen de datos con medidas (media, mediana, moda, desviación).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Entender la distribución de variables.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6340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Correlación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/>
                        <a:t>Evalúa relación entre variables.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Relación entre temperatura y consumo eléctrico.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85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Regresión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Predice una variable a partir de otra.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Estimar ventas según inversión en publicidad.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9021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Clustering (agrupamiento)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/>
                        <a:t>Agrupa datos similares.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/>
                        <a:t>Clasificar clientes por comportamiento.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85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Análisis de series temporales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Estudia datos en el tiempo.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dirty="0"/>
                        <a:t>Proyección de demanda mensual.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245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7983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23D5C-689B-455C-B33C-DDE939ADA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Elección del método adecuado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B2D519-0ED3-47C8-BAD8-836A5877F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4805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800" dirty="0"/>
              <a:t>La selección depende de:</a:t>
            </a:r>
          </a:p>
          <a:p>
            <a:pPr>
              <a:buFont typeface="+mj-lt"/>
              <a:buAutoNum type="arabicPeriod"/>
            </a:pPr>
            <a:r>
              <a:rPr lang="es-MX" sz="2800" b="1" dirty="0"/>
              <a:t>El objetivo del análisis:</a:t>
            </a:r>
            <a:r>
              <a:rPr lang="es-MX" sz="2800" dirty="0"/>
              <a:t> qué se quiere descubrir o demostrar.</a:t>
            </a:r>
          </a:p>
          <a:p>
            <a:pPr>
              <a:buFont typeface="+mj-lt"/>
              <a:buAutoNum type="arabicPeriod"/>
            </a:pPr>
            <a:r>
              <a:rPr lang="es-MX" sz="2800" b="1" dirty="0"/>
              <a:t>El tipo de datos disponibles:</a:t>
            </a:r>
            <a:r>
              <a:rPr lang="es-MX" sz="2800" dirty="0"/>
              <a:t> cualitativos o cuantitativos.</a:t>
            </a:r>
          </a:p>
          <a:p>
            <a:pPr>
              <a:buFont typeface="+mj-lt"/>
              <a:buAutoNum type="arabicPeriod"/>
            </a:pPr>
            <a:r>
              <a:rPr lang="es-MX" sz="2800" b="1" dirty="0"/>
              <a:t>Los recursos y herramientas:</a:t>
            </a:r>
            <a:r>
              <a:rPr lang="es-MX" sz="2800" dirty="0"/>
              <a:t> tiempo, software, experiencia.</a:t>
            </a:r>
          </a:p>
          <a:p>
            <a:pPr>
              <a:buFont typeface="+mj-lt"/>
              <a:buAutoNum type="arabicPeriod"/>
            </a:pPr>
            <a:r>
              <a:rPr lang="es-MX" sz="2800" b="1" dirty="0"/>
              <a:t>El nivel de profundidad requerido:</a:t>
            </a:r>
            <a:r>
              <a:rPr lang="es-MX" sz="2800" dirty="0"/>
              <a:t> exploratorio o predictivo.</a:t>
            </a:r>
          </a:p>
          <a:p>
            <a:pPr marL="0" indent="0">
              <a:buNone/>
            </a:pPr>
            <a:r>
              <a:rPr lang="es-MX" sz="2800" dirty="0"/>
              <a:t>Ejemplo: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Si se busca describir: usar análisis descriptivo.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Si se busca explicar causas: usar diagnóstico o correlación.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Si se busca predecir: usar modelos de regresión.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348606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62C2E-BBF8-4691-B69A-1F246A57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Desafíos comunes al elegir el método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5F5B27-CAB6-484B-B6B3-B8026FE02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800" dirty="0"/>
              <a:t>No definir claramente el objetivo del análisis.</a:t>
            </a:r>
          </a:p>
          <a:p>
            <a:r>
              <a:rPr lang="es-MX" sz="2800" dirty="0"/>
              <a:t>Aplicar métodos avanzados sin datos de calidad.</a:t>
            </a:r>
          </a:p>
          <a:p>
            <a:r>
              <a:rPr lang="es-MX" sz="2800" dirty="0"/>
              <a:t>Confundir correlación con causalidad.</a:t>
            </a:r>
          </a:p>
          <a:p>
            <a:r>
              <a:rPr lang="es-MX" sz="2800" dirty="0"/>
              <a:t>No considerar las limitaciones del conjunto de datos.</a:t>
            </a:r>
          </a:p>
          <a:p>
            <a:pPr marL="0" indent="0">
              <a:buNone/>
            </a:pPr>
            <a:r>
              <a:rPr lang="es-MX" sz="2800" dirty="0"/>
              <a:t>Un buen analista no solo domina técnicas, también sabe cuándo y por qué aplicarlas.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8045402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0DF40-DA19-4E20-BEB5-E036173F9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7. </a:t>
            </a:r>
            <a:r>
              <a:rPr lang="es-CO" sz="4000" dirty="0"/>
              <a:t>Comunicación y visualización de resultados.</a:t>
            </a:r>
            <a:br>
              <a:rPr lang="es-CO" sz="4000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14EB1F-1EF7-414C-8B3D-72F15A897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3662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400" b="1" dirty="0"/>
              <a:t>Objetivo de la sesión: </a:t>
            </a:r>
            <a:r>
              <a:rPr lang="es-MX" sz="2400" dirty="0"/>
              <a:t>Comprender la importancia de comunicar los hallazgos del análisis de datos de manera clara, precisa y visualmente efectiva, aplicando principios básicos de visualización y narrativa de datos (</a:t>
            </a:r>
            <a:r>
              <a:rPr lang="es-MX" sz="2400" i="1" dirty="0"/>
              <a:t>data </a:t>
            </a:r>
            <a:r>
              <a:rPr lang="es-MX" sz="2400" i="1" dirty="0" err="1"/>
              <a:t>storytelling</a:t>
            </a:r>
            <a:r>
              <a:rPr lang="es-MX" sz="2400" dirty="0"/>
              <a:t>).</a:t>
            </a:r>
          </a:p>
          <a:p>
            <a:pPr marL="0" indent="0">
              <a:buNone/>
            </a:pPr>
            <a:r>
              <a:rPr lang="es-MX" sz="2400" b="1" dirty="0"/>
              <a:t>La importancia de comunicar resultados</a:t>
            </a:r>
          </a:p>
          <a:p>
            <a:r>
              <a:rPr lang="es-MX" sz="2400" dirty="0"/>
              <a:t>Analizar datos no basta: el valor real está en </a:t>
            </a:r>
            <a:r>
              <a:rPr lang="es-MX" sz="2400" b="1" dirty="0"/>
              <a:t>comunicar los resultados</a:t>
            </a:r>
            <a:r>
              <a:rPr lang="es-MX" sz="2400" dirty="0"/>
              <a:t> de forma que otros los entiendan y actúen.</a:t>
            </a:r>
            <a:br>
              <a:rPr lang="es-MX" sz="2400" dirty="0"/>
            </a:br>
            <a:r>
              <a:rPr lang="es-MX" sz="2400" dirty="0"/>
              <a:t>Una buena visualización </a:t>
            </a:r>
            <a:r>
              <a:rPr lang="es-MX" sz="2400" b="1" dirty="0"/>
              <a:t>transforma cifras en decisiones</a:t>
            </a:r>
            <a:r>
              <a:rPr lang="es-MX" sz="2400" dirty="0"/>
              <a:t>.</a:t>
            </a:r>
          </a:p>
          <a:p>
            <a:pPr marL="0" indent="0">
              <a:buNone/>
            </a:pPr>
            <a:r>
              <a:rPr lang="es-MX" sz="2400" i="1" dirty="0"/>
              <a:t>“Los datos hablan, pero el analista traduce su mensaje.”</a:t>
            </a:r>
          </a:p>
          <a:p>
            <a:pPr marL="0" indent="0">
              <a:buNone/>
            </a:pPr>
            <a:r>
              <a:rPr lang="es-MX" sz="2400" dirty="0"/>
              <a:t>Ejemplo Un informe de ventas en texto puede ser difícil de interpretar, pero un gráfico de barras puede mostrar en segundos qué producto genera más ingresos.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275217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CC96F-5A2D-457C-BE9D-B1074275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Objetivos de la comunicación de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7A139F-EEA4-44BA-A9D9-40027EA25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s-MX" sz="2800" b="1" dirty="0"/>
              <a:t>Informar:</a:t>
            </a:r>
            <a:r>
              <a:rPr lang="es-MX" sz="2800" dirty="0"/>
              <a:t> presentar hechos de manera objetiva.</a:t>
            </a:r>
          </a:p>
          <a:p>
            <a:pPr>
              <a:buFont typeface="+mj-lt"/>
              <a:buAutoNum type="arabicPeriod"/>
            </a:pPr>
            <a:r>
              <a:rPr lang="es-MX" sz="2800" b="1" dirty="0"/>
              <a:t>Explicar:</a:t>
            </a:r>
            <a:r>
              <a:rPr lang="es-MX" sz="2800" dirty="0"/>
              <a:t> mostrar relaciones o causas.</a:t>
            </a:r>
          </a:p>
          <a:p>
            <a:pPr>
              <a:buFont typeface="+mj-lt"/>
              <a:buAutoNum type="arabicPeriod"/>
            </a:pPr>
            <a:r>
              <a:rPr lang="es-MX" sz="2800" b="1" dirty="0"/>
              <a:t>Convencer:</a:t>
            </a:r>
            <a:r>
              <a:rPr lang="es-MX" sz="2800" dirty="0"/>
              <a:t> apoyar decisiones o estrategias.</a:t>
            </a:r>
          </a:p>
          <a:p>
            <a:pPr>
              <a:buFont typeface="+mj-lt"/>
              <a:buAutoNum type="arabicPeriod"/>
            </a:pPr>
            <a:r>
              <a:rPr lang="es-MX" sz="2800" b="1" dirty="0"/>
              <a:t>Alertar:</a:t>
            </a:r>
            <a:r>
              <a:rPr lang="es-MX" sz="2800" dirty="0"/>
              <a:t> evidenciar anomalías o riesgos.</a:t>
            </a:r>
          </a:p>
          <a:p>
            <a:pPr>
              <a:buFont typeface="+mj-lt"/>
              <a:buAutoNum type="arabicPeriod"/>
            </a:pPr>
            <a:r>
              <a:rPr lang="es-MX" sz="2800" b="1" dirty="0"/>
              <a:t>Inspirar:</a:t>
            </a:r>
            <a:r>
              <a:rPr lang="es-MX" sz="2800" dirty="0"/>
              <a:t> motivar acciones o mejoras.</a:t>
            </a:r>
          </a:p>
          <a:p>
            <a:pPr marL="0" indent="0">
              <a:buNone/>
            </a:pPr>
            <a:r>
              <a:rPr lang="es-MX" sz="2800" dirty="0"/>
              <a:t>En todo caso, el mensaje debe ser claro, honesto y basado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9789230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58889-099D-4DDA-854F-A35C464D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Principios básicos de visualización de datos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2739A16-9006-42FB-961B-565FC5FD6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824893"/>
              </p:ext>
            </p:extLst>
          </p:nvPr>
        </p:nvGraphicFramePr>
        <p:xfrm>
          <a:off x="259080" y="2240281"/>
          <a:ext cx="11681460" cy="423672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766935243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4147049051"/>
                    </a:ext>
                  </a:extLst>
                </a:gridCol>
                <a:gridCol w="4914900">
                  <a:extLst>
                    <a:ext uri="{9D8B030D-6E8A-4147-A177-3AD203B41FA5}">
                      <a16:colId xmlns:a16="http://schemas.microsoft.com/office/drawing/2014/main" val="1313321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Principio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b="1"/>
                        <a:t>Descripción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b="1" dirty="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531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Claridad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Mostrar solo la información necesaria.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/>
                        <a:t>Evitar gráficos saturados o colores innecesarios.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03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Precisión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Representar correctamente las magnitudes y proporciones.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/>
                        <a:t>No truncar ejes o exagerar escalas.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89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Consistencia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Usar formatos y colores uniformes.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Un mismo color debe significar lo mismo en todos los gráficos.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180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Contexto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Acompañar el gráfico con una breve explicación.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Indicar el periodo o fuente de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000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200" b="1"/>
                        <a:t>Simplicidad</a:t>
                      </a:r>
                      <a:endParaRPr lang="es-CO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200"/>
                        <a:t>Menos es más: priorizar lo esencial.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200" dirty="0"/>
                        <a:t>Preferir barras o líneas antes que gráficos 3D confusos.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151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3368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BA0D2-22A9-4AAF-AF4C-EDAB5D7F0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280" y="137159"/>
            <a:ext cx="9448800" cy="1293028"/>
          </a:xfrm>
        </p:spPr>
        <p:txBody>
          <a:bodyPr/>
          <a:lstStyle/>
          <a:p>
            <a:r>
              <a:rPr lang="es-MX" dirty="0"/>
              <a:t>Tipos de gráficos más utilizados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9D44230-B917-4C2A-9014-C8EACB809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571216"/>
              </p:ext>
            </p:extLst>
          </p:nvPr>
        </p:nvGraphicFramePr>
        <p:xfrm>
          <a:off x="289560" y="1325881"/>
          <a:ext cx="11612880" cy="5394960"/>
        </p:xfrm>
        <a:graphic>
          <a:graphicData uri="http://schemas.openxmlformats.org/drawingml/2006/table">
            <a:tbl>
              <a:tblPr/>
              <a:tblGrid>
                <a:gridCol w="3771900">
                  <a:extLst>
                    <a:ext uri="{9D8B030D-6E8A-4147-A177-3AD203B41FA5}">
                      <a16:colId xmlns:a16="http://schemas.microsoft.com/office/drawing/2014/main" val="1127696021"/>
                    </a:ext>
                  </a:extLst>
                </a:gridCol>
                <a:gridCol w="3970020">
                  <a:extLst>
                    <a:ext uri="{9D8B030D-6E8A-4147-A177-3AD203B41FA5}">
                      <a16:colId xmlns:a16="http://schemas.microsoft.com/office/drawing/2014/main" val="3236365085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3240357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Tipo de gráfico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/>
                        <a:t>Uso principal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6609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Gráfico de barras o columnas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Comparar categorías o grupos.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Ventas por producto.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732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Gráfico de líneas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Mostrar evolución en el tiempo.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Temperatura diaria o ventas mensuales.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755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Gráfico circular (pie chart)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Representar proporciones.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Porcentaje de mercado.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035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Histograma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Ver distribución de frecuencias.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Rango de edades de clientes.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807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Diagrama de dispersión (scatter plot)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Analizar relaciones entre variables.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Relación entre inversión y ventas.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92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Mapa geográfico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Mostrar patrones espaciales.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Consumo energético por región.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14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8654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B0582-9C02-40E1-A85B-26DC4DDC4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La narrativa de datos (</a:t>
            </a:r>
            <a:r>
              <a:rPr lang="es-CO" i="1" dirty="0"/>
              <a:t>Data </a:t>
            </a:r>
            <a:r>
              <a:rPr lang="es-CO" i="1" dirty="0" err="1"/>
              <a:t>Storytelling</a:t>
            </a:r>
            <a:r>
              <a:rPr lang="es-CO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982F3F-4F67-43AE-B830-DBB61997F8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2420" y="2242066"/>
            <a:ext cx="1156716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</a:t>
            </a:r>
            <a:r>
              <a:rPr kumimoji="0" lang="es-CO" altLang="es-CO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</a:t>
            </a:r>
            <a:r>
              <a:rPr kumimoji="0" lang="es-CO" altLang="es-CO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storytelling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es el arte de 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combinar datos con contexto y emoción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generar impacto.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Estructura básica: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Introducción: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plantear el problema o pregunta.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Desarrollo: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mostrar hallazgos con evidencia visual.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Conclusión: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ofrecer una interpretación o recomendación.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Ejemplo: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“Las ventas cayeron 15 % en el segundo trimestre. El análisis muestra que esto coincide con una reducción del presupuesto de publicidad.</a:t>
            </a:r>
            <a:b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 se restaura la inversión, las ventas podrían recuperarse.”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Los datos convencen, pero las historias inspiran acción.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294016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50876-8341-482F-9F47-A9A0D8FE5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Errores comunes al presentar resultados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05F07B-D07D-4246-B051-86F0FF3D5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8458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800" dirty="0"/>
              <a:t>Un buen comunicador de datos adapta su mensaje a su audiencia (directivos, técnicos o estudiantes).</a:t>
            </a:r>
            <a:endParaRPr lang="es-CO" sz="28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48E97A4-ACB0-424A-8DBE-EC26B67A4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819948"/>
              </p:ext>
            </p:extLst>
          </p:nvPr>
        </p:nvGraphicFramePr>
        <p:xfrm>
          <a:off x="685800" y="3108801"/>
          <a:ext cx="10820400" cy="3474720"/>
        </p:xfrm>
        <a:graphic>
          <a:graphicData uri="http://schemas.openxmlformats.org/drawingml/2006/table">
            <a:tbl>
              <a:tblPr/>
              <a:tblGrid>
                <a:gridCol w="5410200">
                  <a:extLst>
                    <a:ext uri="{9D8B030D-6E8A-4147-A177-3AD203B41FA5}">
                      <a16:colId xmlns:a16="http://schemas.microsoft.com/office/drawing/2014/main" val="570830001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6706399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Consecuencia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5115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400" dirty="0"/>
                        <a:t>Exceso de información en una diapositiva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Confunde al público.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473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dirty="0"/>
                        <a:t>Escalas incorrectas o manipuladas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Distorsiona los resultados.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613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dirty="0"/>
                        <a:t>Uso de colores arbitrarios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Dificulta interpretación.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290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400" dirty="0"/>
                        <a:t>Falta de fuente o fecha de los datos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Reduce credibilidad.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657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400" dirty="0"/>
                        <a:t>No adaptar el mensaje al público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Desconexión con la audiencia.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328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70734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2BA30-10DC-4C1C-9D49-39122E98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Rol del analista de datos y tendencias actuales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5F6862-0E66-4EA6-867D-265F32365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2800" b="1" dirty="0"/>
              <a:t>Objetivo de la sesión</a:t>
            </a:r>
          </a:p>
          <a:p>
            <a:r>
              <a:rPr lang="es-MX" sz="2800" dirty="0"/>
              <a:t>Reconocer las funciones, responsabilidades y competencias del analista de datos en el entorno profesional actual, así como las principales tendencias tecnológicas y laborales que marcan el futuro del análisis de datos.</a:t>
            </a:r>
          </a:p>
        </p:txBody>
      </p:sp>
    </p:spTree>
    <p:extLst>
      <p:ext uri="{BB962C8B-B14F-4D97-AF65-F5344CB8AC3E}">
        <p14:creationId xmlns:p14="http://schemas.microsoft.com/office/powerpoint/2010/main" val="8357423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BEC532-3845-4E50-A5A3-F070DE9F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¿Quién es un analista de datos?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EA4025-4367-4043-92EF-24F98A63A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dirty="0"/>
              <a:t>El </a:t>
            </a:r>
            <a:r>
              <a:rPr lang="es-MX" sz="2400" b="1" dirty="0"/>
              <a:t>analista de datos</a:t>
            </a:r>
            <a:r>
              <a:rPr lang="es-MX" sz="2400" dirty="0"/>
              <a:t> es el profesional encargado de </a:t>
            </a:r>
            <a:r>
              <a:rPr lang="es-MX" sz="2400" b="1" dirty="0"/>
              <a:t>convertir los datos en información útil para la toma de decisiones</a:t>
            </a:r>
            <a:r>
              <a:rPr lang="es-MX" sz="2400" dirty="0"/>
              <a:t>. Trabaja en la frontera entre la tecnología, la estadística y los negocios.</a:t>
            </a:r>
          </a:p>
          <a:p>
            <a:pPr marL="0" indent="0">
              <a:buNone/>
            </a:pPr>
            <a:r>
              <a:rPr lang="es-MX" sz="2400" i="1" dirty="0"/>
              <a:t>“El analista no solo maneja datos, los transforma en conocimiento accionable.”</a:t>
            </a:r>
            <a:endParaRPr lang="es-MX" sz="2400" dirty="0"/>
          </a:p>
          <a:p>
            <a:pPr marL="0" indent="0">
              <a:buNone/>
            </a:pPr>
            <a:r>
              <a:rPr lang="es-MX" sz="2400" dirty="0"/>
              <a:t>Su labor consiste 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Recopilar información de diversas fuentes.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Limpiar y preparar los datos.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Analizarlos mediante técnicas estadísticas.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Visualizar y comunicar resultados de manera clara y efectiva.</a:t>
            </a:r>
          </a:p>
        </p:txBody>
      </p:sp>
    </p:spTree>
    <p:extLst>
      <p:ext uri="{BB962C8B-B14F-4D97-AF65-F5344CB8AC3E}">
        <p14:creationId xmlns:p14="http://schemas.microsoft.com/office/powerpoint/2010/main" val="32947834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8581D-240A-4816-97E9-3C4B590F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Diferencia entre roles en el ecosistema de datos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E91129E-E09A-414F-87BE-8F3762792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015133"/>
              </p:ext>
            </p:extLst>
          </p:nvPr>
        </p:nvGraphicFramePr>
        <p:xfrm>
          <a:off x="388620" y="2331561"/>
          <a:ext cx="11567160" cy="4114800"/>
        </p:xfrm>
        <a:graphic>
          <a:graphicData uri="http://schemas.openxmlformats.org/drawingml/2006/table">
            <a:tbl>
              <a:tblPr/>
              <a:tblGrid>
                <a:gridCol w="2537460">
                  <a:extLst>
                    <a:ext uri="{9D8B030D-6E8A-4147-A177-3AD203B41FA5}">
                      <a16:colId xmlns:a16="http://schemas.microsoft.com/office/drawing/2014/main" val="486635623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1661508594"/>
                    </a:ext>
                  </a:extLst>
                </a:gridCol>
                <a:gridCol w="2891790">
                  <a:extLst>
                    <a:ext uri="{9D8B030D-6E8A-4147-A177-3AD203B41FA5}">
                      <a16:colId xmlns:a16="http://schemas.microsoft.com/office/drawing/2014/main" val="1371926713"/>
                    </a:ext>
                  </a:extLst>
                </a:gridCol>
                <a:gridCol w="2891790">
                  <a:extLst>
                    <a:ext uri="{9D8B030D-6E8A-4147-A177-3AD203B41FA5}">
                      <a16:colId xmlns:a16="http://schemas.microsoft.com/office/drawing/2014/main" val="2195755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000" b="1"/>
                        <a:t>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/>
                        <a:t>Enfoque principal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/>
                        <a:t>Herramientas típicas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/>
                        <a:t>Resultado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654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000" b="1"/>
                        <a:t>Analista de datos (Data Analyst)</a:t>
                      </a:r>
                      <a:endParaRPr lang="es-CO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Examina datos existentes para obtener conclusiones.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Excel, SQL, Power BI, Python.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Reportes, dashboards, métricas.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374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000" b="1"/>
                        <a:t>Científico de datos (Data Scientist)</a:t>
                      </a:r>
                      <a:endParaRPr lang="es-CO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Desarrolla modelos predictivos y algoritmos avanzados.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Python, R, Machine Learning.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Predicciones, modelos automatizados.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217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000" b="1"/>
                        <a:t>Ingeniero de datos (Data Engineer)</a:t>
                      </a:r>
                      <a:endParaRPr lang="es-MX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Diseña y mantiene la infraestructura de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SQL, Hadoop, Spark, AWS.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Pipelines y bases optimizadas.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778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000" b="1"/>
                        <a:t>Especialista en BI (Business Intelligence)</a:t>
                      </a:r>
                      <a:endParaRPr lang="es-CO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Convierte datos en reportes estratégicos.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Power BI, Tableau, Looker.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dirty="0"/>
                        <a:t>Indicadores y paneles gerenciales.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666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2569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2A7CC-74EF-4775-94C4-48F0E68D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Competencias clave del analista de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D67782-5DDB-445A-9DC0-A5C6C16BB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1"/>
            <a:ext cx="11209020" cy="45034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 dirty="0"/>
              <a:t>Técnicas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Manejo de hojas de cálculo (Excel, CSV).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Consultas SQL para bases relacionales.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Programación en Python o 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Conocimientos básicos de estadística descriptiva e inferencial.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Uso de herramientas de visualización (</a:t>
            </a:r>
            <a:r>
              <a:rPr lang="es-MX" sz="2400" dirty="0" err="1"/>
              <a:t>Power</a:t>
            </a:r>
            <a:r>
              <a:rPr lang="es-MX" sz="2400" dirty="0"/>
              <a:t> BI, </a:t>
            </a:r>
            <a:r>
              <a:rPr lang="es-MX" sz="2400" dirty="0" err="1"/>
              <a:t>Tableau</a:t>
            </a:r>
            <a:r>
              <a:rPr lang="es-MX" sz="2400" dirty="0"/>
              <a:t>, </a:t>
            </a:r>
            <a:r>
              <a:rPr lang="es-MX" sz="2400" dirty="0" err="1"/>
              <a:t>Matplotlib</a:t>
            </a:r>
            <a:r>
              <a:rPr lang="es-MX" sz="2400" dirty="0"/>
              <a:t>).</a:t>
            </a:r>
          </a:p>
          <a:p>
            <a:pPr marL="0" indent="0">
              <a:buNone/>
            </a:pPr>
            <a:r>
              <a:rPr lang="es-MX" sz="2400" b="1" dirty="0"/>
              <a:t>Analíticas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Pensamiento crítico y lógico.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Capacidad para detectar patrones y relaciones.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Dominio del razonamiento cuantitativo.</a:t>
            </a:r>
          </a:p>
        </p:txBody>
      </p:sp>
    </p:spTree>
    <p:extLst>
      <p:ext uri="{BB962C8B-B14F-4D97-AF65-F5344CB8AC3E}">
        <p14:creationId xmlns:p14="http://schemas.microsoft.com/office/powerpoint/2010/main" val="23950707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2A7CC-74EF-4775-94C4-48F0E68D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Competencias clave del analista de 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D67782-5DDB-445A-9DC0-A5C6C16BB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1"/>
            <a:ext cx="11209020" cy="44119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 dirty="0"/>
              <a:t>Comunicativas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Redacción clara de informes.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Habilidad para presentar resultados ante diferentes públicos.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Capacidad para simplificar conceptos técnicos.</a:t>
            </a:r>
          </a:p>
          <a:p>
            <a:pPr marL="0" indent="0">
              <a:buNone/>
            </a:pPr>
            <a:r>
              <a:rPr lang="es-MX" sz="2400" b="1" dirty="0"/>
              <a:t>Éticas y profesionales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Respeto por la confidencialidad.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Objetividad en la interpretación.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Responsabilidad en el uso de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8431268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EF9EE-2484-42B4-BF88-19637E1CF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Habilidades del analista moderno (2025)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458A4A-5CE5-4BC4-84E8-52519AAE3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960120"/>
          </a:xfrm>
        </p:spPr>
        <p:txBody>
          <a:bodyPr>
            <a:normAutofit/>
          </a:bodyPr>
          <a:lstStyle/>
          <a:p>
            <a:r>
              <a:rPr lang="es-MX" sz="2800" dirty="0"/>
              <a:t>El analista del futuro será un comunicador técnico, capaz de unir datos con estrategia.</a:t>
            </a:r>
            <a:endParaRPr lang="es-CO" sz="28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2BB6C3F-88B3-427F-A8CC-E4E3CF3E3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860111"/>
              </p:ext>
            </p:extLst>
          </p:nvPr>
        </p:nvGraphicFramePr>
        <p:xfrm>
          <a:off x="685800" y="3291841"/>
          <a:ext cx="10820400" cy="3108960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3682517214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928735254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54967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/>
                        <a:t>Categoría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Habilidad específica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Nivel de importancia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333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Técnica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Excel, Python y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138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Estadística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Descriptiva e inferencial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1276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Visualización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Power BI / Tableau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2730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Negocios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Entender indicadores clave (KPI)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315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Comunicación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Storytelling con datos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117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Gestión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Documentar procesos y proyectos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929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7863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4DA7E-5F50-4DE3-BF93-D20CD9DE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27333"/>
            <a:ext cx="8610600" cy="1293028"/>
          </a:xfrm>
        </p:spPr>
        <p:txBody>
          <a:bodyPr/>
          <a:lstStyle/>
          <a:p>
            <a:r>
              <a:rPr lang="es-MX" dirty="0"/>
              <a:t>Campos de aplicación del análisis de datos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BF75FA9-841B-473B-8075-B617078C6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590069"/>
              </p:ext>
            </p:extLst>
          </p:nvPr>
        </p:nvGraphicFramePr>
        <p:xfrm>
          <a:off x="278130" y="1620361"/>
          <a:ext cx="11635740" cy="5029200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586654872"/>
                    </a:ext>
                  </a:extLst>
                </a:gridCol>
                <a:gridCol w="7840980">
                  <a:extLst>
                    <a:ext uri="{9D8B030D-6E8A-4147-A177-3AD203B41FA5}">
                      <a16:colId xmlns:a16="http://schemas.microsoft.com/office/drawing/2014/main" val="33020855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Sector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/>
                        <a:t>Ejemplo de aplicación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8953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Energía y medio ambiente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Monitoreo de consumo, predicción de demanda, optimización de eficiencia.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921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Educación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Análisis de rendimiento académico, deserción, estrategias pedagógicas.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959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Salud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Seguimiento epidemiológico, análisis de tratamientos y costos.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84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Finanzas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Evaluación de riesgo, predicción de tendencias bursátiles.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3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Industria y manufactura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Control de calidad, mantenimiento predictivo.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598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 b="1"/>
                        <a:t>Marketing y ventas</a:t>
                      </a:r>
                      <a:endParaRPr lang="es-CO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Segmentación de clientes, campañas basadas en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669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4326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FEE704-CA27-4F15-BFB0-132886E13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860" y="398613"/>
            <a:ext cx="9128760" cy="1293028"/>
          </a:xfrm>
        </p:spPr>
        <p:txBody>
          <a:bodyPr/>
          <a:lstStyle/>
          <a:p>
            <a:r>
              <a:rPr lang="es-MX" dirty="0"/>
              <a:t>Tendencias en análisis de datos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7BE5CA8-FE25-4CE0-B529-D69F5F7CA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243465"/>
              </p:ext>
            </p:extLst>
          </p:nvPr>
        </p:nvGraphicFramePr>
        <p:xfrm>
          <a:off x="369570" y="1485266"/>
          <a:ext cx="11452860" cy="5182036"/>
        </p:xfrm>
        <a:graphic>
          <a:graphicData uri="http://schemas.openxmlformats.org/drawingml/2006/table">
            <a:tbl>
              <a:tblPr/>
              <a:tblGrid>
                <a:gridCol w="3063239">
                  <a:extLst>
                    <a:ext uri="{9D8B030D-6E8A-4147-A177-3AD203B41FA5}">
                      <a16:colId xmlns:a16="http://schemas.microsoft.com/office/drawing/2014/main" val="1812753543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3309988853"/>
                    </a:ext>
                  </a:extLst>
                </a:gridCol>
                <a:gridCol w="3451861">
                  <a:extLst>
                    <a:ext uri="{9D8B030D-6E8A-4147-A177-3AD203B41FA5}">
                      <a16:colId xmlns:a16="http://schemas.microsoft.com/office/drawing/2014/main" val="3841653647"/>
                    </a:ext>
                  </a:extLst>
                </a:gridCol>
              </a:tblGrid>
              <a:tr h="292677">
                <a:tc>
                  <a:txBody>
                    <a:bodyPr/>
                    <a:lstStyle/>
                    <a:p>
                      <a:r>
                        <a:rPr lang="es-CO" sz="2000" b="1"/>
                        <a:t>Tendencia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/>
                        <a:t>Descripción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/>
                        <a:t>Ejemplo o impacto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469767"/>
                  </a:ext>
                </a:extLst>
              </a:tr>
              <a:tr h="731693">
                <a:tc>
                  <a:txBody>
                    <a:bodyPr/>
                    <a:lstStyle/>
                    <a:p>
                      <a:r>
                        <a:rPr lang="es-CO" sz="2000" b="1"/>
                        <a:t>Inteligencia Artificial y Machine Learning</a:t>
                      </a:r>
                      <a:endParaRPr lang="es-CO" sz="2000"/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Los algoritmos aprenden de los datos para hacer predicciones automáticas.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 err="1"/>
                        <a:t>Chatbots</a:t>
                      </a:r>
                      <a:r>
                        <a:rPr lang="es-MX" sz="2000" dirty="0"/>
                        <a:t>, predicción de fallas, </a:t>
                      </a:r>
                      <a:r>
                        <a:rPr lang="es-MX" sz="2000" dirty="0" err="1"/>
                        <a:t>recomendadores</a:t>
                      </a:r>
                      <a:r>
                        <a:rPr lang="es-MX" sz="2000" dirty="0"/>
                        <a:t>.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4125240"/>
                  </a:ext>
                </a:extLst>
              </a:tr>
              <a:tr h="731693">
                <a:tc>
                  <a:txBody>
                    <a:bodyPr/>
                    <a:lstStyle/>
                    <a:p>
                      <a:r>
                        <a:rPr lang="en-US" sz="2000" b="1"/>
                        <a:t>Big Data y nube (Cloud Data)</a:t>
                      </a:r>
                      <a:endParaRPr lang="en-US" sz="2000"/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Procesamiento de grandes volúmenes en plataformas escalables.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Google Cloud, AWS, Azure.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836491"/>
                  </a:ext>
                </a:extLst>
              </a:tr>
              <a:tr h="512185">
                <a:tc>
                  <a:txBody>
                    <a:bodyPr/>
                    <a:lstStyle/>
                    <a:p>
                      <a:r>
                        <a:rPr lang="es-CO" sz="2000" b="1"/>
                        <a:t>Automatización de reportes (BI Automation)</a:t>
                      </a:r>
                      <a:endParaRPr lang="es-CO" sz="2000"/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Dashboards que se actualizan solos.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Power BI + Python.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938493"/>
                  </a:ext>
                </a:extLst>
              </a:tr>
              <a:tr h="512185">
                <a:tc>
                  <a:txBody>
                    <a:bodyPr/>
                    <a:lstStyle/>
                    <a:p>
                      <a:r>
                        <a:rPr lang="es-MX" sz="2000" b="1"/>
                        <a:t>Data Storytelling y comunicación visual</a:t>
                      </a:r>
                      <a:endParaRPr lang="es-MX" sz="2000"/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Narrativas que combinan gráficos y contexto.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Presentaciones dinámicas con Power BI o Tableau.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33844"/>
                  </a:ext>
                </a:extLst>
              </a:tr>
              <a:tr h="512185">
                <a:tc>
                  <a:txBody>
                    <a:bodyPr/>
                    <a:lstStyle/>
                    <a:p>
                      <a:r>
                        <a:rPr lang="es-MX" sz="2000" b="1"/>
                        <a:t>Análisis en tiempo real (Streaming Analytics)</a:t>
                      </a:r>
                      <a:endParaRPr lang="es-MX" sz="2000"/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Monitoreo continuo de variables clave.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/>
                        <a:t>Sensores IoT, tráfico, transacciones financieras.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677811"/>
                  </a:ext>
                </a:extLst>
              </a:tr>
              <a:tr h="731693">
                <a:tc>
                  <a:txBody>
                    <a:bodyPr/>
                    <a:lstStyle/>
                    <a:p>
                      <a:r>
                        <a:rPr lang="es-CO" sz="2000" b="1"/>
                        <a:t>Data Governance y ética</a:t>
                      </a:r>
                      <a:endParaRPr lang="es-CO" sz="2000"/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Normas que aseguran calidad, privacidad y trazabilidad.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Cumplimiento de ISO 27001, GDPR, Ley 1581/2012.</a:t>
                      </a:r>
                    </a:p>
                  </a:txBody>
                  <a:tcPr marL="73169" marR="73169" marT="36585" marB="365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795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1223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F8195-E616-436D-8C44-07B9DF892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535772"/>
            <a:ext cx="8610600" cy="1293028"/>
          </a:xfrm>
        </p:spPr>
        <p:txBody>
          <a:bodyPr/>
          <a:lstStyle/>
          <a:p>
            <a:r>
              <a:rPr lang="es-MX" dirty="0"/>
              <a:t>Ejemplo de rol profesional: “Analista de datos junior”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835037-F8F4-4D8F-85E7-A90709B5F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28800"/>
            <a:ext cx="10820400" cy="47091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sz="2800" b="1" dirty="0"/>
              <a:t>Responsabilidades:</a:t>
            </a:r>
            <a:endParaRPr lang="es-MX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Cargar y limpiar datos en SQL o Excel.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Apoyar en la creación de </a:t>
            </a:r>
            <a:r>
              <a:rPr lang="es-MX" sz="2800" dirty="0" err="1"/>
              <a:t>dashboards</a:t>
            </a:r>
            <a:r>
              <a:rPr lang="es-MX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Generar reportes estadísticos semanales.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Analizar tendencias y alertar inconsistencias.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Documentar procesos y buenas prácticas.</a:t>
            </a:r>
          </a:p>
          <a:p>
            <a:pPr marL="0" indent="0">
              <a:buNone/>
            </a:pPr>
            <a:r>
              <a:rPr lang="es-MX" sz="2800" b="1" dirty="0"/>
              <a:t>Competencias esperadas:</a:t>
            </a:r>
            <a:endParaRPr lang="es-MX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Lógica de programación básica.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Conocimiento de </a:t>
            </a:r>
            <a:r>
              <a:rPr lang="es-MX" sz="2800" dirty="0" err="1"/>
              <a:t>Power</a:t>
            </a:r>
            <a:r>
              <a:rPr lang="es-MX" sz="2800" dirty="0"/>
              <a:t> BI o similar.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Comunicación efectiva y pensamiento analítico.</a:t>
            </a:r>
          </a:p>
          <a:p>
            <a:pPr marL="0" indent="0">
              <a:buNone/>
            </a:pPr>
            <a:r>
              <a:rPr lang="es-MX" sz="2800" i="1" dirty="0"/>
              <a:t>El analista debe mantenerse en aprendizaje continuo: las herramientas cambian, pero los principios permanecen.</a:t>
            </a:r>
            <a:endParaRPr lang="es-MX" sz="2800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066408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85D67-072E-49AE-AD0D-6A55BDE90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470" y="2547452"/>
            <a:ext cx="9243060" cy="2458887"/>
          </a:xfrm>
        </p:spPr>
        <p:txBody>
          <a:bodyPr>
            <a:noAutofit/>
          </a:bodyPr>
          <a:lstStyle/>
          <a:p>
            <a:r>
              <a:rPr lang="es-CO" sz="7200" dirty="0"/>
              <a:t>¡muchas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3218544852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{D4BB9FD4-F0F4-4A3C-B8C2-FFCBB35B87FA}TF49310879-45c6-4d72-870a-c20bc0dca33218b4381c-a0a828f5d38b</Template>
  <TotalTime>251</TotalTime>
  <Words>5136</Words>
  <Application>Microsoft Office PowerPoint</Application>
  <PresentationFormat>Panorámica</PresentationFormat>
  <Paragraphs>740</Paragraphs>
  <Slides>63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63</vt:i4>
      </vt:variant>
    </vt:vector>
  </HeadingPairs>
  <TitlesOfParts>
    <vt:vector size="66" baseType="lpstr">
      <vt:lpstr>Arial</vt:lpstr>
      <vt:lpstr>Century Gothic</vt:lpstr>
      <vt:lpstr>Estela de condensación</vt:lpstr>
      <vt:lpstr>Introducción a los análisis de datos</vt:lpstr>
      <vt:lpstr>Contenido</vt:lpstr>
      <vt:lpstr>1. Conceptos básicos del análisis de datos</vt:lpstr>
      <vt:lpstr>Introducción al concepto de dato</vt:lpstr>
      <vt:lpstr>¿Qué es el análisis de datos?</vt:lpstr>
      <vt:lpstr>Importancia del análisis de datos</vt:lpstr>
      <vt:lpstr>Diferencias entre análisis de datos, ciencia de datos y Big Data</vt:lpstr>
      <vt:lpstr>Tipos de análisis de datos</vt:lpstr>
      <vt:lpstr>Rol del analista de datos</vt:lpstr>
      <vt:lpstr>Conceptos claves</vt:lpstr>
      <vt:lpstr>2. Tipos de datos y estructuras de información</vt:lpstr>
      <vt:lpstr>Qué son los datos y cómo se clasifican</vt:lpstr>
      <vt:lpstr>Tipos de datos cualitativos</vt:lpstr>
      <vt:lpstr>Tipos de datos cuantitativos</vt:lpstr>
      <vt:lpstr>Tipos de datos según su estructura</vt:lpstr>
      <vt:lpstr>Componentes básicos de un dataset</vt:lpstr>
      <vt:lpstr>Escalas de medición de los datos</vt:lpstr>
      <vt:lpstr>Ejemplos de aplicación</vt:lpstr>
      <vt:lpstr>Representación y codificación de datos</vt:lpstr>
      <vt:lpstr>Errores comunes al clasificar datos</vt:lpstr>
      <vt:lpstr>3. Fuentes y recolección de datos</vt:lpstr>
      <vt:lpstr>Tipos de fuentes de datos</vt:lpstr>
      <vt:lpstr>Características de una fuente de datos confiable</vt:lpstr>
      <vt:lpstr>Fuentes más comunes de datos en análisis profesional</vt:lpstr>
      <vt:lpstr>Métodos de recolección de datos</vt:lpstr>
      <vt:lpstr>Ejemplo práctico (contexto educativo o empresarial)</vt:lpstr>
      <vt:lpstr>Formatos comunes de almacenamiento de datos</vt:lpstr>
      <vt:lpstr>Ética y seguridad en la recolección de datos</vt:lpstr>
      <vt:lpstr>4. Ciclo de vida del dato y fases del análisis</vt:lpstr>
      <vt:lpstr>Etapas del ciclo de vida del dato</vt:lpstr>
      <vt:lpstr>Las fases del análisis de datos</vt:lpstr>
      <vt:lpstr>Ejemplo aplicado: análisis de consumo energético</vt:lpstr>
      <vt:lpstr>Importancia de documentar el ciclo de datos</vt:lpstr>
      <vt:lpstr>Buenas prácticas para cada fase</vt:lpstr>
      <vt:lpstr>5. Calidad, integridad y ética en los datos</vt:lpstr>
      <vt:lpstr>Por qué es importante la calidad de los datos</vt:lpstr>
      <vt:lpstr>Dimensiones de la calidad de datos</vt:lpstr>
      <vt:lpstr>Concepto de integridad de los datos</vt:lpstr>
      <vt:lpstr>Errores comunes que deterioran la calidad de datos</vt:lpstr>
      <vt:lpstr>Legislación y normas en Colombia (y marco internacional)</vt:lpstr>
      <vt:lpstr>Casos reales y lecciones aprendidas</vt:lpstr>
      <vt:lpstr>Buenas prácticas para garantizar calidad y ética</vt:lpstr>
      <vt:lpstr>6. Métodos del análisis de datos.</vt:lpstr>
      <vt:lpstr>Tipos de análisis de datos según su propósito</vt:lpstr>
      <vt:lpstr>Métodos estadísticos más comunes</vt:lpstr>
      <vt:lpstr>Elección del método adecuado</vt:lpstr>
      <vt:lpstr>Desafíos comunes al elegir el método</vt:lpstr>
      <vt:lpstr>7. Comunicación y visualización de resultados. </vt:lpstr>
      <vt:lpstr>Objetivos de la comunicación de datos</vt:lpstr>
      <vt:lpstr>Principios básicos de visualización de datos</vt:lpstr>
      <vt:lpstr>Tipos de gráficos más utilizados</vt:lpstr>
      <vt:lpstr>La narrativa de datos (Data Storytelling)</vt:lpstr>
      <vt:lpstr>Errores comunes al presentar resultados</vt:lpstr>
      <vt:lpstr>Rol del analista de datos y tendencias actuales</vt:lpstr>
      <vt:lpstr>¿Quién es un analista de datos?</vt:lpstr>
      <vt:lpstr>Diferencia entre roles en el ecosistema de datos</vt:lpstr>
      <vt:lpstr>Competencias clave del analista de datos</vt:lpstr>
      <vt:lpstr>Competencias clave del analista de datos</vt:lpstr>
      <vt:lpstr>Habilidades del analista moderno (2025)</vt:lpstr>
      <vt:lpstr>Campos de aplicación del análisis de datos</vt:lpstr>
      <vt:lpstr>Tendencias en análisis de datos</vt:lpstr>
      <vt:lpstr>Ejemplo de rol profesional: “Analista de datos junior”</vt:lpstr>
      <vt:lpstr>¡muchas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los análisis de datos</dc:title>
  <dc:creator>andres hernandez</dc:creator>
  <cp:lastModifiedBy>andres hernandez</cp:lastModifiedBy>
  <cp:revision>18</cp:revision>
  <dcterms:created xsi:type="dcterms:W3CDTF">2025-10-12T16:03:38Z</dcterms:created>
  <dcterms:modified xsi:type="dcterms:W3CDTF">2025-10-21T01:36:09Z</dcterms:modified>
</cp:coreProperties>
</file>