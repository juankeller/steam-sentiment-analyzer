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  <p:sldMasterId id="2147483722" r:id="rId2"/>
    <p:sldMasterId id="2147483724" r:id="rId3"/>
    <p:sldMasterId id="214748373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300" r:id="rId44"/>
    <p:sldId id="295" r:id="rId45"/>
    <p:sldId id="296" r:id="rId46"/>
    <p:sldId id="297" r:id="rId47"/>
    <p:sldId id="298" r:id="rId48"/>
    <p:sldId id="299" r:id="rId49"/>
    <p:sldId id="301" r:id="rId50"/>
    <p:sldId id="302" r:id="rId51"/>
    <p:sldId id="303" r:id="rId52"/>
    <p:sldId id="304" r:id="rId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86633" y="1664400"/>
            <a:ext cx="94188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86667" y="4401200"/>
            <a:ext cx="9418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3439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86232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113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619400" y="3155029"/>
            <a:ext cx="4953200" cy="109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4995400" y="1785551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55200" y="4102233"/>
            <a:ext cx="6081600" cy="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10598567" y="5306367"/>
            <a:ext cx="18380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50500" y="-118267"/>
            <a:ext cx="18916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5351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28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51000" y="1697233"/>
            <a:ext cx="10290000" cy="43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467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6" name="Google Shape;26;p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9179867" y="-151467"/>
            <a:ext cx="3420800" cy="1741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705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6718633" y="3401932"/>
            <a:ext cx="33148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6718633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2257567" y="3401932"/>
            <a:ext cx="33148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2257567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9247667" y="5241767"/>
            <a:ext cx="3399200" cy="180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4731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8417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996667" y="1910733"/>
            <a:ext cx="2450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996667" y="2386733"/>
            <a:ext cx="6880400" cy="3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572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7755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496667" y="1430667"/>
            <a:ext cx="9198800" cy="3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50" name="Google Shape;50;p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9457667" y="5246767"/>
            <a:ext cx="3110400" cy="179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560600" y="-162133"/>
            <a:ext cx="3110400" cy="179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58497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11946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7900600" y="3730000"/>
            <a:ext cx="4504000" cy="328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0180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950967" y="589236"/>
            <a:ext cx="4742800" cy="1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62" name="Google Shape;62;p1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8193300" y="4138300"/>
            <a:ext cx="4157600" cy="2934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9011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793817"/>
            <a:ext cx="102900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2019100" y="4251531"/>
            <a:ext cx="8160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2134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105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77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7812433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7812433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2538567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2538567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7812433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7812433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2538567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2538633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1064767" y="1890553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6338633" y="1871968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064833" y="423569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6338633" y="4217111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13446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9600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9768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960000" y="2774932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45384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55552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4538400" y="2774944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81168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91336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8116800" y="2774944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9600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9768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9600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45384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55552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45384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81168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91336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81168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3109867" y="593367"/>
            <a:ext cx="5972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48501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3214000" y="3744337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2457200" y="2215951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89976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933200" y="3761684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933200" y="2234536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20310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35312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2309400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06822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2659800" y="1977100"/>
            <a:ext cx="68724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3066000" y="3962867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3271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4990467" y="2066500"/>
            <a:ext cx="60600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4990467" y="4052284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3226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2237233" y="3349071"/>
            <a:ext cx="4953200" cy="107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 idx="2" hasCustomPrompt="1"/>
          </p:nvPr>
        </p:nvSpPr>
        <p:spPr>
          <a:xfrm>
            <a:off x="4989233" y="1979591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108833" y="4325333"/>
            <a:ext cx="6081600" cy="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50" name="Google Shape;150;p20"/>
          <p:cNvCxnSpPr/>
          <p:nvPr/>
        </p:nvCxnSpPr>
        <p:spPr>
          <a:xfrm rot="10800000">
            <a:off x="-400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400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50500" y="5306367"/>
            <a:ext cx="18380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10544967" y="-118267"/>
            <a:ext cx="18916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23470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9609800" y="-204233"/>
            <a:ext cx="2827200" cy="169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570214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87250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2503300" y="593367"/>
            <a:ext cx="718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1"/>
          </p:nvPr>
        </p:nvSpPr>
        <p:spPr>
          <a:xfrm>
            <a:off x="4302277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2"/>
          </p:nvPr>
        </p:nvSpPr>
        <p:spPr>
          <a:xfrm>
            <a:off x="4302277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3"/>
          </p:nvPr>
        </p:nvSpPr>
        <p:spPr>
          <a:xfrm>
            <a:off x="958811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4"/>
          </p:nvPr>
        </p:nvSpPr>
        <p:spPr>
          <a:xfrm>
            <a:off x="958811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5"/>
          </p:nvPr>
        </p:nvSpPr>
        <p:spPr>
          <a:xfrm>
            <a:off x="4302277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6"/>
          </p:nvPr>
        </p:nvSpPr>
        <p:spPr>
          <a:xfrm>
            <a:off x="4302277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7"/>
          </p:nvPr>
        </p:nvSpPr>
        <p:spPr>
          <a:xfrm>
            <a:off x="958811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8"/>
          </p:nvPr>
        </p:nvSpPr>
        <p:spPr>
          <a:xfrm>
            <a:off x="958877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77" name="Google Shape;177;p2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4174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4"/>
          <p:cNvSpPr txBox="1">
            <a:spLocks noGrp="1"/>
          </p:cNvSpPr>
          <p:nvPr>
            <p:ph type="body" idx="1"/>
          </p:nvPr>
        </p:nvSpPr>
        <p:spPr>
          <a:xfrm>
            <a:off x="7397200" y="4010333"/>
            <a:ext cx="3844000" cy="21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4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>
                <a:latin typeface="Vidaloka"/>
                <a:ea typeface="Vidaloka"/>
                <a:cs typeface="Vidaloka"/>
                <a:sym typeface="Vidaloka"/>
              </a:defRPr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>
                <a:latin typeface="Vidaloka"/>
                <a:ea typeface="Vidaloka"/>
                <a:cs typeface="Vidaloka"/>
                <a:sym typeface="Vidaloka"/>
              </a:defRPr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599139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 hasCustomPrompt="1"/>
          </p:nvPr>
        </p:nvSpPr>
        <p:spPr>
          <a:xfrm>
            <a:off x="950967" y="1793833"/>
            <a:ext cx="81604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87" name="Google Shape;187;p25"/>
          <p:cNvSpPr txBox="1">
            <a:spLocks noGrp="1"/>
          </p:cNvSpPr>
          <p:nvPr>
            <p:ph type="subTitle" idx="1"/>
          </p:nvPr>
        </p:nvSpPr>
        <p:spPr>
          <a:xfrm>
            <a:off x="950967" y="4251531"/>
            <a:ext cx="8160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88" name="Google Shape;188;p2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891535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6608133" y="3289833"/>
            <a:ext cx="33004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title" idx="2" hasCustomPrompt="1"/>
          </p:nvPr>
        </p:nvSpPr>
        <p:spPr>
          <a:xfrm>
            <a:off x="6608133" y="1869767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>
            <a:spLocks noGrp="1"/>
          </p:cNvSpPr>
          <p:nvPr>
            <p:ph type="subTitle" idx="1"/>
          </p:nvPr>
        </p:nvSpPr>
        <p:spPr>
          <a:xfrm>
            <a:off x="6608133" y="4155033"/>
            <a:ext cx="33004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96" name="Google Shape;196;p2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79467" y="3203267"/>
            <a:ext cx="4192400" cy="3719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730241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5831800" y="1259000"/>
            <a:ext cx="33004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title" idx="2" hasCustomPrompt="1"/>
          </p:nvPr>
        </p:nvSpPr>
        <p:spPr>
          <a:xfrm>
            <a:off x="3059800" y="1462200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202" name="Google Shape;202;p27"/>
          <p:cNvSpPr txBox="1">
            <a:spLocks noGrp="1"/>
          </p:cNvSpPr>
          <p:nvPr>
            <p:ph type="subTitle" idx="1"/>
          </p:nvPr>
        </p:nvSpPr>
        <p:spPr>
          <a:xfrm>
            <a:off x="5831800" y="2124200"/>
            <a:ext cx="33004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203" name="Google Shape;203;p2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51867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1391633" y="1230089"/>
            <a:ext cx="4164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1391633" y="4481251"/>
            <a:ext cx="40180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212" name="Google Shape;212;p2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7096867" y="-107500"/>
            <a:ext cx="5340000" cy="267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069353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7081233" y="1283420"/>
            <a:ext cx="4164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7081233" y="4534580"/>
            <a:ext cx="40180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72397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4678667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4678700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1270700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1270833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8086500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8086500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232" name="Google Shape;232;p3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81193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subTitle" idx="1"/>
          </p:nvPr>
        </p:nvSpPr>
        <p:spPr>
          <a:xfrm>
            <a:off x="4678667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2"/>
          </p:nvPr>
        </p:nvSpPr>
        <p:spPr>
          <a:xfrm>
            <a:off x="4678700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3"/>
          </p:nvPr>
        </p:nvSpPr>
        <p:spPr>
          <a:xfrm>
            <a:off x="1270700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ubTitle" idx="4"/>
          </p:nvPr>
        </p:nvSpPr>
        <p:spPr>
          <a:xfrm>
            <a:off x="1270833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5"/>
          </p:nvPr>
        </p:nvSpPr>
        <p:spPr>
          <a:xfrm>
            <a:off x="8086500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6"/>
          </p:nvPr>
        </p:nvSpPr>
        <p:spPr>
          <a:xfrm>
            <a:off x="8086500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title"/>
          </p:nvPr>
        </p:nvSpPr>
        <p:spPr>
          <a:xfrm>
            <a:off x="1659000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7"/>
          </p:nvPr>
        </p:nvSpPr>
        <p:spPr>
          <a:xfrm>
            <a:off x="4678667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8"/>
          </p:nvPr>
        </p:nvSpPr>
        <p:spPr>
          <a:xfrm>
            <a:off x="4678700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9"/>
          </p:nvPr>
        </p:nvSpPr>
        <p:spPr>
          <a:xfrm>
            <a:off x="12707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13"/>
          </p:nvPr>
        </p:nvSpPr>
        <p:spPr>
          <a:xfrm>
            <a:off x="1270833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14"/>
          </p:nvPr>
        </p:nvSpPr>
        <p:spPr>
          <a:xfrm>
            <a:off x="80865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15"/>
          </p:nvPr>
        </p:nvSpPr>
        <p:spPr>
          <a:xfrm>
            <a:off x="8086500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248" name="Google Shape;248;p3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24305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 -">
  <p:cSld name="Title and six columns 1 -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subTitle" idx="1"/>
          </p:nvPr>
        </p:nvSpPr>
        <p:spPr>
          <a:xfrm>
            <a:off x="45520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2"/>
          </p:nvPr>
        </p:nvSpPr>
        <p:spPr>
          <a:xfrm>
            <a:off x="47522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ubTitle" idx="3"/>
          </p:nvPr>
        </p:nvSpPr>
        <p:spPr>
          <a:xfrm>
            <a:off x="9409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4"/>
          </p:nvPr>
        </p:nvSpPr>
        <p:spPr>
          <a:xfrm>
            <a:off x="11411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5"/>
          </p:nvPr>
        </p:nvSpPr>
        <p:spPr>
          <a:xfrm>
            <a:off x="8163100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6"/>
          </p:nvPr>
        </p:nvSpPr>
        <p:spPr>
          <a:xfrm>
            <a:off x="8363300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7"/>
          </p:nvPr>
        </p:nvSpPr>
        <p:spPr>
          <a:xfrm>
            <a:off x="4552067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8"/>
          </p:nvPr>
        </p:nvSpPr>
        <p:spPr>
          <a:xfrm>
            <a:off x="4752267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subTitle" idx="9"/>
          </p:nvPr>
        </p:nvSpPr>
        <p:spPr>
          <a:xfrm>
            <a:off x="940967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13"/>
          </p:nvPr>
        </p:nvSpPr>
        <p:spPr>
          <a:xfrm>
            <a:off x="1141167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subTitle" idx="14"/>
          </p:nvPr>
        </p:nvSpPr>
        <p:spPr>
          <a:xfrm>
            <a:off x="8163100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subTitle" idx="15"/>
          </p:nvPr>
        </p:nvSpPr>
        <p:spPr>
          <a:xfrm>
            <a:off x="8363300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266" name="Google Shape;266;p3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698314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>
            <a:spLocks noGrp="1"/>
          </p:cNvSpPr>
          <p:nvPr>
            <p:ph type="subTitle" idx="1"/>
          </p:nvPr>
        </p:nvSpPr>
        <p:spPr>
          <a:xfrm>
            <a:off x="45520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2"/>
          </p:nvPr>
        </p:nvSpPr>
        <p:spPr>
          <a:xfrm>
            <a:off x="47522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3"/>
          </p:nvPr>
        </p:nvSpPr>
        <p:spPr>
          <a:xfrm>
            <a:off x="9409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subTitle" idx="4"/>
          </p:nvPr>
        </p:nvSpPr>
        <p:spPr>
          <a:xfrm>
            <a:off x="11411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subTitle" idx="5"/>
          </p:nvPr>
        </p:nvSpPr>
        <p:spPr>
          <a:xfrm>
            <a:off x="8163100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ubTitle" idx="6"/>
          </p:nvPr>
        </p:nvSpPr>
        <p:spPr>
          <a:xfrm>
            <a:off x="8363300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subTitle" idx="7"/>
          </p:nvPr>
        </p:nvSpPr>
        <p:spPr>
          <a:xfrm>
            <a:off x="2746484" y="41980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subTitle" idx="8"/>
          </p:nvPr>
        </p:nvSpPr>
        <p:spPr>
          <a:xfrm>
            <a:off x="2946684" y="47529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subTitle" idx="9"/>
          </p:nvPr>
        </p:nvSpPr>
        <p:spPr>
          <a:xfrm>
            <a:off x="6357517" y="41980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subTitle" idx="13"/>
          </p:nvPr>
        </p:nvSpPr>
        <p:spPr>
          <a:xfrm>
            <a:off x="6557717" y="47529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280" name="Google Shape;280;p3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408325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954967" y="1430667"/>
            <a:ext cx="7520800" cy="3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286" name="Google Shape;286;p3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4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34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61473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>
            <a:spLocks noGrp="1"/>
          </p:cNvSpPr>
          <p:nvPr>
            <p:ph type="subTitle" idx="1"/>
          </p:nvPr>
        </p:nvSpPr>
        <p:spPr>
          <a:xfrm>
            <a:off x="6555800" y="2525600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subTitle" idx="2"/>
          </p:nvPr>
        </p:nvSpPr>
        <p:spPr>
          <a:xfrm>
            <a:off x="6745200" y="306196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subTitle" idx="3"/>
          </p:nvPr>
        </p:nvSpPr>
        <p:spPr>
          <a:xfrm>
            <a:off x="2548200" y="2525600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subTitle" idx="4"/>
          </p:nvPr>
        </p:nvSpPr>
        <p:spPr>
          <a:xfrm>
            <a:off x="2737733" y="306196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subTitle" idx="5"/>
          </p:nvPr>
        </p:nvSpPr>
        <p:spPr>
          <a:xfrm>
            <a:off x="6555800" y="4705203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6"/>
          </p:nvPr>
        </p:nvSpPr>
        <p:spPr>
          <a:xfrm>
            <a:off x="6745200" y="523164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subTitle" idx="7"/>
          </p:nvPr>
        </p:nvSpPr>
        <p:spPr>
          <a:xfrm>
            <a:off x="2548200" y="4705203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subTitle" idx="8"/>
          </p:nvPr>
        </p:nvSpPr>
        <p:spPr>
          <a:xfrm>
            <a:off x="2737600" y="523164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64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302" name="Google Shape;302;p3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76080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ubTitle" idx="1"/>
          </p:nvPr>
        </p:nvSpPr>
        <p:spPr>
          <a:xfrm>
            <a:off x="4762567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2"/>
          </p:nvPr>
        </p:nvSpPr>
        <p:spPr>
          <a:xfrm>
            <a:off x="4762567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subTitle" idx="3"/>
          </p:nvPr>
        </p:nvSpPr>
        <p:spPr>
          <a:xfrm>
            <a:off x="1451200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subTitle" idx="4"/>
          </p:nvPr>
        </p:nvSpPr>
        <p:spPr>
          <a:xfrm>
            <a:off x="1451200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subTitle" idx="5"/>
          </p:nvPr>
        </p:nvSpPr>
        <p:spPr>
          <a:xfrm>
            <a:off x="8073933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subTitle" idx="6"/>
          </p:nvPr>
        </p:nvSpPr>
        <p:spPr>
          <a:xfrm>
            <a:off x="8073933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35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312" name="Google Shape;312;p3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07442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3706800" y="593367"/>
            <a:ext cx="477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subTitle" idx="1"/>
          </p:nvPr>
        </p:nvSpPr>
        <p:spPr>
          <a:xfrm>
            <a:off x="7075533" y="22802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subTitle" idx="2"/>
          </p:nvPr>
        </p:nvSpPr>
        <p:spPr>
          <a:xfrm>
            <a:off x="7075533" y="28149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subTitle" idx="3"/>
          </p:nvPr>
        </p:nvSpPr>
        <p:spPr>
          <a:xfrm>
            <a:off x="1801667" y="22802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subTitle" idx="4"/>
          </p:nvPr>
        </p:nvSpPr>
        <p:spPr>
          <a:xfrm>
            <a:off x="1801667" y="28149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7" name="Google Shape;327;p37"/>
          <p:cNvSpPr txBox="1">
            <a:spLocks noGrp="1"/>
          </p:cNvSpPr>
          <p:nvPr>
            <p:ph type="subTitle" idx="5"/>
          </p:nvPr>
        </p:nvSpPr>
        <p:spPr>
          <a:xfrm>
            <a:off x="7075533" y="4736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subTitle" idx="6"/>
          </p:nvPr>
        </p:nvSpPr>
        <p:spPr>
          <a:xfrm>
            <a:off x="7075533" y="5261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7"/>
          </p:nvPr>
        </p:nvSpPr>
        <p:spPr>
          <a:xfrm>
            <a:off x="1801667" y="4736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8"/>
          </p:nvPr>
        </p:nvSpPr>
        <p:spPr>
          <a:xfrm>
            <a:off x="1801733" y="5261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title" idx="9" hasCustomPrompt="1"/>
          </p:nvPr>
        </p:nvSpPr>
        <p:spPr>
          <a:xfrm>
            <a:off x="1801667" y="1508567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 idx="13" hasCustomPrompt="1"/>
          </p:nvPr>
        </p:nvSpPr>
        <p:spPr>
          <a:xfrm>
            <a:off x="7075533" y="1508567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 idx="14" hasCustomPrompt="1"/>
          </p:nvPr>
        </p:nvSpPr>
        <p:spPr>
          <a:xfrm>
            <a:off x="1801733" y="3952751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15" hasCustomPrompt="1"/>
          </p:nvPr>
        </p:nvSpPr>
        <p:spPr>
          <a:xfrm>
            <a:off x="7075533" y="3952751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875033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subTitle" idx="1"/>
          </p:nvPr>
        </p:nvSpPr>
        <p:spPr>
          <a:xfrm>
            <a:off x="4957767" y="4392265"/>
            <a:ext cx="21904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subTitle" idx="2"/>
          </p:nvPr>
        </p:nvSpPr>
        <p:spPr>
          <a:xfrm>
            <a:off x="4823567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subTitle" idx="3"/>
          </p:nvPr>
        </p:nvSpPr>
        <p:spPr>
          <a:xfrm>
            <a:off x="1770700" y="4392265"/>
            <a:ext cx="21904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ubTitle" idx="4"/>
          </p:nvPr>
        </p:nvSpPr>
        <p:spPr>
          <a:xfrm>
            <a:off x="1636568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0" name="Google Shape;340;p38"/>
          <p:cNvSpPr txBox="1">
            <a:spLocks noGrp="1"/>
          </p:cNvSpPr>
          <p:nvPr>
            <p:ph type="subTitle" idx="5"/>
          </p:nvPr>
        </p:nvSpPr>
        <p:spPr>
          <a:xfrm>
            <a:off x="8144733" y="4392265"/>
            <a:ext cx="21908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1" name="Google Shape;341;p38"/>
          <p:cNvSpPr txBox="1">
            <a:spLocks noGrp="1"/>
          </p:cNvSpPr>
          <p:nvPr>
            <p:ph type="subTitle" idx="6"/>
          </p:nvPr>
        </p:nvSpPr>
        <p:spPr>
          <a:xfrm>
            <a:off x="8010733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25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343" name="Google Shape;343;p3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020762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>
            <a:spLocks noGrp="1"/>
          </p:cNvSpPr>
          <p:nvPr>
            <p:ph type="subTitle" idx="1"/>
          </p:nvPr>
        </p:nvSpPr>
        <p:spPr>
          <a:xfrm>
            <a:off x="6333567" y="2176995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subTitle" idx="2"/>
          </p:nvPr>
        </p:nvSpPr>
        <p:spPr>
          <a:xfrm>
            <a:off x="6333579" y="27133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subTitle" idx="3"/>
          </p:nvPr>
        </p:nvSpPr>
        <p:spPr>
          <a:xfrm>
            <a:off x="3075267" y="2176995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49" name="Google Shape;349;p39"/>
          <p:cNvSpPr txBox="1">
            <a:spLocks noGrp="1"/>
          </p:cNvSpPr>
          <p:nvPr>
            <p:ph type="subTitle" idx="4"/>
          </p:nvPr>
        </p:nvSpPr>
        <p:spPr>
          <a:xfrm>
            <a:off x="3075283" y="27133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50" name="Google Shape;350;p39"/>
          <p:cNvSpPr txBox="1">
            <a:spLocks noGrp="1"/>
          </p:cNvSpPr>
          <p:nvPr>
            <p:ph type="subTitle" idx="5"/>
          </p:nvPr>
        </p:nvSpPr>
        <p:spPr>
          <a:xfrm>
            <a:off x="6333567" y="408303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51" name="Google Shape;351;p39"/>
          <p:cNvSpPr txBox="1">
            <a:spLocks noGrp="1"/>
          </p:cNvSpPr>
          <p:nvPr>
            <p:ph type="subTitle" idx="6"/>
          </p:nvPr>
        </p:nvSpPr>
        <p:spPr>
          <a:xfrm>
            <a:off x="6333579" y="46280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52" name="Google Shape;352;p39"/>
          <p:cNvSpPr txBox="1">
            <a:spLocks noGrp="1"/>
          </p:cNvSpPr>
          <p:nvPr>
            <p:ph type="subTitle" idx="7"/>
          </p:nvPr>
        </p:nvSpPr>
        <p:spPr>
          <a:xfrm>
            <a:off x="3075267" y="408303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53" name="Google Shape;353;p39"/>
          <p:cNvSpPr txBox="1">
            <a:spLocks noGrp="1"/>
          </p:cNvSpPr>
          <p:nvPr>
            <p:ph type="subTitle" idx="8"/>
          </p:nvPr>
        </p:nvSpPr>
        <p:spPr>
          <a:xfrm>
            <a:off x="3075283" y="46280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54" name="Google Shape;354;p3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7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355" name="Google Shape;355;p3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252876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40"/>
          <p:cNvSpPr txBox="1">
            <a:spLocks noGrp="1"/>
          </p:cNvSpPr>
          <p:nvPr>
            <p:ph type="subTitle" idx="1"/>
          </p:nvPr>
        </p:nvSpPr>
        <p:spPr>
          <a:xfrm>
            <a:off x="971667" y="1483829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65" name="Google Shape;365;p40"/>
          <p:cNvSpPr txBox="1">
            <a:spLocks noGrp="1"/>
          </p:cNvSpPr>
          <p:nvPr>
            <p:ph type="subTitle" idx="2"/>
          </p:nvPr>
        </p:nvSpPr>
        <p:spPr>
          <a:xfrm>
            <a:off x="971683" y="2020199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66" name="Google Shape;366;p40"/>
          <p:cNvSpPr txBox="1">
            <a:spLocks noGrp="1"/>
          </p:cNvSpPr>
          <p:nvPr>
            <p:ph type="subTitle" idx="3"/>
          </p:nvPr>
        </p:nvSpPr>
        <p:spPr>
          <a:xfrm>
            <a:off x="971667" y="271518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subTitle" idx="4"/>
          </p:nvPr>
        </p:nvSpPr>
        <p:spPr>
          <a:xfrm>
            <a:off x="971683" y="326021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68" name="Google Shape;368;p40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subTitle" idx="5"/>
          </p:nvPr>
        </p:nvSpPr>
        <p:spPr>
          <a:xfrm>
            <a:off x="971667" y="3996300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70" name="Google Shape;370;p40"/>
          <p:cNvSpPr txBox="1">
            <a:spLocks noGrp="1"/>
          </p:cNvSpPr>
          <p:nvPr>
            <p:ph type="subTitle" idx="6"/>
          </p:nvPr>
        </p:nvSpPr>
        <p:spPr>
          <a:xfrm>
            <a:off x="971683" y="4541332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56542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 hasCustomPrompt="1"/>
          </p:nvPr>
        </p:nvSpPr>
        <p:spPr>
          <a:xfrm>
            <a:off x="3457233" y="9528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3153312" y="17952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title" idx="2" hasCustomPrompt="1"/>
          </p:nvPr>
        </p:nvSpPr>
        <p:spPr>
          <a:xfrm>
            <a:off x="3457233" y="27507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3"/>
          </p:nvPr>
        </p:nvSpPr>
        <p:spPr>
          <a:xfrm>
            <a:off x="3153312" y="35931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title" idx="4" hasCustomPrompt="1"/>
          </p:nvPr>
        </p:nvSpPr>
        <p:spPr>
          <a:xfrm>
            <a:off x="3457233" y="45486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41"/>
          <p:cNvSpPr txBox="1">
            <a:spLocks noGrp="1"/>
          </p:cNvSpPr>
          <p:nvPr>
            <p:ph type="subTitle" idx="5"/>
          </p:nvPr>
        </p:nvSpPr>
        <p:spPr>
          <a:xfrm>
            <a:off x="3153267" y="53910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378" name="Google Shape;378;p4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810597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>
            <a:spLocks noGrp="1"/>
          </p:cNvSpPr>
          <p:nvPr>
            <p:ph type="subTitle" idx="1"/>
          </p:nvPr>
        </p:nvSpPr>
        <p:spPr>
          <a:xfrm>
            <a:off x="7600812" y="2779025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subTitle" idx="2"/>
          </p:nvPr>
        </p:nvSpPr>
        <p:spPr>
          <a:xfrm>
            <a:off x="7600828" y="3315392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3"/>
          </p:nvPr>
        </p:nvSpPr>
        <p:spPr>
          <a:xfrm>
            <a:off x="2631984" y="1202845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4"/>
          </p:nvPr>
        </p:nvSpPr>
        <p:spPr>
          <a:xfrm>
            <a:off x="2631984" y="1739213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5"/>
          </p:nvPr>
        </p:nvSpPr>
        <p:spPr>
          <a:xfrm>
            <a:off x="2631984" y="4387833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6"/>
          </p:nvPr>
        </p:nvSpPr>
        <p:spPr>
          <a:xfrm>
            <a:off x="2631984" y="4932865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387" name="Google Shape;387;p4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42"/>
          <p:cNvSpPr txBox="1">
            <a:spLocks noGrp="1"/>
          </p:cNvSpPr>
          <p:nvPr>
            <p:ph type="title" hasCustomPrompt="1"/>
          </p:nvPr>
        </p:nvSpPr>
        <p:spPr>
          <a:xfrm>
            <a:off x="977333" y="1485933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7" hasCustomPrompt="1"/>
          </p:nvPr>
        </p:nvSpPr>
        <p:spPr>
          <a:xfrm>
            <a:off x="977333" y="4670900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title" idx="8" hasCustomPrompt="1"/>
          </p:nvPr>
        </p:nvSpPr>
        <p:spPr>
          <a:xfrm>
            <a:off x="5921336" y="3035317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324695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title"/>
          </p:nvPr>
        </p:nvSpPr>
        <p:spPr>
          <a:xfrm>
            <a:off x="1071667" y="2720661"/>
            <a:ext cx="54500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subTitle" idx="1"/>
          </p:nvPr>
        </p:nvSpPr>
        <p:spPr>
          <a:xfrm>
            <a:off x="1071667" y="3591367"/>
            <a:ext cx="4212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398" name="Google Shape;398;p4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944399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>
            <a:spLocks noGrp="1"/>
          </p:cNvSpPr>
          <p:nvPr>
            <p:ph type="title"/>
          </p:nvPr>
        </p:nvSpPr>
        <p:spPr>
          <a:xfrm>
            <a:off x="5986867" y="2730300"/>
            <a:ext cx="4485600" cy="8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subTitle" idx="1"/>
          </p:nvPr>
        </p:nvSpPr>
        <p:spPr>
          <a:xfrm>
            <a:off x="6474067" y="3593100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403" name="Google Shape;403;p4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019150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subTitle" idx="1"/>
          </p:nvPr>
        </p:nvSpPr>
        <p:spPr>
          <a:xfrm>
            <a:off x="5555733" y="1938033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0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408" name="Google Shape;408;p4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27379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8" name="Google Shape;418;p46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19" name="Google Shape;419;p46"/>
          <p:cNvSpPr txBox="1">
            <a:spLocks noGrp="1"/>
          </p:cNvSpPr>
          <p:nvPr>
            <p:ph type="subTitle" idx="1"/>
          </p:nvPr>
        </p:nvSpPr>
        <p:spPr>
          <a:xfrm>
            <a:off x="6033584" y="2050217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20" name="Google Shape;420;p46"/>
          <p:cNvSpPr txBox="1">
            <a:spLocks noGrp="1"/>
          </p:cNvSpPr>
          <p:nvPr>
            <p:ph type="subTitle" idx="2"/>
          </p:nvPr>
        </p:nvSpPr>
        <p:spPr>
          <a:xfrm>
            <a:off x="881617" y="2050217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71819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>
            <a:spLocks noGrp="1"/>
          </p:cNvSpPr>
          <p:nvPr>
            <p:ph type="subTitle" idx="1"/>
          </p:nvPr>
        </p:nvSpPr>
        <p:spPr>
          <a:xfrm>
            <a:off x="6421433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23" name="Google Shape;423;p47"/>
          <p:cNvSpPr txBox="1">
            <a:spLocks noGrp="1"/>
          </p:cNvSpPr>
          <p:nvPr>
            <p:ph type="subTitle" idx="2"/>
          </p:nvPr>
        </p:nvSpPr>
        <p:spPr>
          <a:xfrm>
            <a:off x="6421600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24" name="Google Shape;424;p47"/>
          <p:cNvSpPr txBox="1">
            <a:spLocks noGrp="1"/>
          </p:cNvSpPr>
          <p:nvPr>
            <p:ph type="subTitle" idx="3"/>
          </p:nvPr>
        </p:nvSpPr>
        <p:spPr>
          <a:xfrm>
            <a:off x="1847772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4"/>
          </p:nvPr>
        </p:nvSpPr>
        <p:spPr>
          <a:xfrm>
            <a:off x="1848033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63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427" name="Google Shape;427;p4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316223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>
            <a:spLocks noGrp="1"/>
          </p:cNvSpPr>
          <p:nvPr>
            <p:ph type="title"/>
          </p:nvPr>
        </p:nvSpPr>
        <p:spPr>
          <a:xfrm>
            <a:off x="1659000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1"/>
          </p:nvPr>
        </p:nvSpPr>
        <p:spPr>
          <a:xfrm>
            <a:off x="4678667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subTitle" idx="2"/>
          </p:nvPr>
        </p:nvSpPr>
        <p:spPr>
          <a:xfrm>
            <a:off x="4678700" y="5086600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33" name="Google Shape;433;p48"/>
          <p:cNvSpPr txBox="1">
            <a:spLocks noGrp="1"/>
          </p:cNvSpPr>
          <p:nvPr>
            <p:ph type="subTitle" idx="3"/>
          </p:nvPr>
        </p:nvSpPr>
        <p:spPr>
          <a:xfrm>
            <a:off x="12707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34" name="Google Shape;434;p48"/>
          <p:cNvSpPr txBox="1">
            <a:spLocks noGrp="1"/>
          </p:cNvSpPr>
          <p:nvPr>
            <p:ph type="subTitle" idx="4"/>
          </p:nvPr>
        </p:nvSpPr>
        <p:spPr>
          <a:xfrm>
            <a:off x="1270833" y="5086601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35" name="Google Shape;435;p48"/>
          <p:cNvSpPr txBox="1">
            <a:spLocks noGrp="1"/>
          </p:cNvSpPr>
          <p:nvPr>
            <p:ph type="subTitle" idx="5"/>
          </p:nvPr>
        </p:nvSpPr>
        <p:spPr>
          <a:xfrm>
            <a:off x="80865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36" name="Google Shape;436;p48"/>
          <p:cNvSpPr txBox="1">
            <a:spLocks noGrp="1"/>
          </p:cNvSpPr>
          <p:nvPr>
            <p:ph type="subTitle" idx="6"/>
          </p:nvPr>
        </p:nvSpPr>
        <p:spPr>
          <a:xfrm>
            <a:off x="8086500" y="5086600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437" name="Google Shape;437;p4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551333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>
            <a:spLocks noGrp="1"/>
          </p:cNvSpPr>
          <p:nvPr>
            <p:ph type="title"/>
          </p:nvPr>
        </p:nvSpPr>
        <p:spPr>
          <a:xfrm>
            <a:off x="3777200" y="1054933"/>
            <a:ext cx="4637600" cy="1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1"/>
          </p:nvPr>
        </p:nvSpPr>
        <p:spPr>
          <a:xfrm>
            <a:off x="3977800" y="2332567"/>
            <a:ext cx="4236400" cy="12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3867267" y="4584367"/>
            <a:ext cx="44576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3439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86232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585485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043113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96367" y="52579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61972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30016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5108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5521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25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86633" y="1664400"/>
            <a:ext cx="94188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86667" y="4401200"/>
            <a:ext cx="9418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342187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45773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8561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8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99204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86633" y="1664400"/>
            <a:ext cx="94188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86667" y="4401200"/>
            <a:ext cx="9418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00154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4277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857286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4279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256403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460456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699214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722140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56303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976674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216664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182123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7594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0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67981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  <p:sldLayoutId id="2147483710" r:id="rId42"/>
    <p:sldLayoutId id="2147483711" r:id="rId43"/>
    <p:sldLayoutId id="2147483712" r:id="rId44"/>
    <p:sldLayoutId id="2147483713" r:id="rId45"/>
    <p:sldLayoutId id="2147483714" r:id="rId46"/>
    <p:sldLayoutId id="2147483715" r:id="rId47"/>
    <p:sldLayoutId id="2147483716" r:id="rId48"/>
    <p:sldLayoutId id="2147483717" r:id="rId49"/>
    <p:sldLayoutId id="2147483718" r:id="rId50"/>
    <p:sldLayoutId id="2147483719" r:id="rId51"/>
    <p:sldLayoutId id="2147483720" r:id="rId52"/>
    <p:sldLayoutId id="2147483721" r:id="rId5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0" name="Google Shape;470;p5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84697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3" r:id="rId1"/>
    <p:sldLayoutId id="2147483729" r:id="rId2"/>
    <p:sldLayoutId id="214748373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4" name="Google Shape;474;p56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5600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07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C44D4-99BB-45B1-9668-B9A4AA10A9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Fundamentos de programación en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23FEEE-F882-4EB7-B8FD-1924B4988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Ing. Víctor Hernández Arias</a:t>
            </a:r>
          </a:p>
          <a:p>
            <a:r>
              <a:rPr lang="es-CO" dirty="0"/>
              <a:t>Diplomado Data </a:t>
            </a:r>
            <a:r>
              <a:rPr lang="es-CO" dirty="0" err="1"/>
              <a:t>Analytics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5573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D15D6-311C-43AD-A841-932A0391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Temáticas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B23F93-44B9-410B-96DE-8450D171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0" y="2015731"/>
            <a:ext cx="2259106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/>
              <a:t>1. Operadores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Aritméticos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Lógicos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Relacionales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Asignación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A5ACAA0-5A33-4A16-970A-CE0E42669122}"/>
              </a:ext>
            </a:extLst>
          </p:cNvPr>
          <p:cNvSpPr txBox="1">
            <a:spLocks/>
          </p:cNvSpPr>
          <p:nvPr/>
        </p:nvSpPr>
        <p:spPr>
          <a:xfrm>
            <a:off x="5279507" y="2015731"/>
            <a:ext cx="3891387" cy="40377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/>
              <a:t>3. Ciclos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err="1"/>
              <a:t>For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err="1"/>
              <a:t>While</a:t>
            </a:r>
            <a:endParaRPr lang="es-MX" sz="2400" dirty="0"/>
          </a:p>
          <a:p>
            <a:pPr marL="0" indent="0">
              <a:buNone/>
            </a:pPr>
            <a:r>
              <a:rPr lang="es-MX" sz="2400" b="1" dirty="0"/>
              <a:t>4. Funciones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Funciones sin parámetros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Funciones con parámetros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6B3CAE5-E9C4-4DB7-B8E6-9C0EEB2EDE27}"/>
              </a:ext>
            </a:extLst>
          </p:cNvPr>
          <p:cNvSpPr txBox="1">
            <a:spLocks/>
          </p:cNvSpPr>
          <p:nvPr/>
        </p:nvSpPr>
        <p:spPr>
          <a:xfrm>
            <a:off x="2675965" y="2015731"/>
            <a:ext cx="2603541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2400" b="1" dirty="0"/>
              <a:t>2. Condicionales</a:t>
            </a:r>
            <a:endParaRPr lang="es-MX" sz="2400" dirty="0"/>
          </a:p>
          <a:p>
            <a:r>
              <a:rPr lang="es-MX" sz="2400" dirty="0" err="1"/>
              <a:t>If</a:t>
            </a:r>
            <a:endParaRPr lang="es-MX" sz="2400" dirty="0"/>
          </a:p>
          <a:p>
            <a:r>
              <a:rPr lang="es-MX" sz="2400" dirty="0" err="1"/>
              <a:t>Else</a:t>
            </a:r>
            <a:endParaRPr lang="es-MX" sz="2400" dirty="0"/>
          </a:p>
          <a:p>
            <a:r>
              <a:rPr lang="es-MX" sz="2400" dirty="0" err="1"/>
              <a:t>Elif</a:t>
            </a:r>
            <a:endParaRPr lang="es-MX" sz="2400" dirty="0"/>
          </a:p>
          <a:p>
            <a:r>
              <a:rPr lang="es-MX" sz="2400" dirty="0" err="1"/>
              <a:t>If</a:t>
            </a:r>
            <a:r>
              <a:rPr lang="es-MX" sz="2400" dirty="0"/>
              <a:t> anidado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121D550-1AD4-46C1-8E24-3EA689BCBE6E}"/>
              </a:ext>
            </a:extLst>
          </p:cNvPr>
          <p:cNvSpPr txBox="1">
            <a:spLocks/>
          </p:cNvSpPr>
          <p:nvPr/>
        </p:nvSpPr>
        <p:spPr>
          <a:xfrm>
            <a:off x="8996082" y="2015731"/>
            <a:ext cx="2725974" cy="403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/>
              <a:t>5. Estructuras Especiales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Listas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Tuplas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Diccionarios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Conjuntos</a:t>
            </a:r>
          </a:p>
        </p:txBody>
      </p:sp>
    </p:spTree>
    <p:extLst>
      <p:ext uri="{BB962C8B-B14F-4D97-AF65-F5344CB8AC3E}">
        <p14:creationId xmlns:p14="http://schemas.microsoft.com/office/powerpoint/2010/main" val="113930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61C5C-0F42-467F-B995-618A3D15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1.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47A167-0E2E-42FE-AB97-252C7191C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Autofit/>
          </a:bodyPr>
          <a:lstStyle/>
          <a:p>
            <a:r>
              <a:rPr lang="es-MX" sz="2400" dirty="0"/>
              <a:t>Los </a:t>
            </a:r>
            <a:r>
              <a:rPr lang="es-MX" sz="2400" b="1" dirty="0"/>
              <a:t>operadores</a:t>
            </a:r>
            <a:r>
              <a:rPr lang="es-MX" sz="2400" dirty="0"/>
              <a:t> son símbolos o palabras reservadas que permiten realizar operaciones entre uno o más valores o variables. En Python, los operadores se utilizan para </a:t>
            </a:r>
            <a:r>
              <a:rPr lang="es-MX" sz="2400" b="1" dirty="0"/>
              <a:t>realizar cálculos matemáticos, establecer comparaciones, asignar valores y evaluar condiciones lógicas</a:t>
            </a:r>
            <a:r>
              <a:rPr lang="es-MX" sz="2400" dirty="0"/>
              <a:t>.</a:t>
            </a:r>
            <a:br>
              <a:rPr lang="es-MX" sz="2400" dirty="0"/>
            </a:br>
            <a:r>
              <a:rPr lang="es-MX" sz="2400" dirty="0"/>
              <a:t>Son la base de toda estructura de programación, ya que permiten que el código ejecute acciones y tome decisiones.</a:t>
            </a:r>
            <a:br>
              <a:rPr lang="es-MX" sz="2400" dirty="0"/>
            </a:br>
            <a:r>
              <a:rPr lang="es-MX" sz="2400" dirty="0"/>
              <a:t>Python clasifica los operadores en varios tipos: </a:t>
            </a:r>
            <a:r>
              <a:rPr lang="es-MX" sz="2400" b="1" dirty="0"/>
              <a:t>aritméticos, lógicos, relacionales y de asignación</a:t>
            </a:r>
            <a:r>
              <a:rPr lang="es-MX" sz="2400" dirty="0"/>
              <a:t>, entre otros.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7443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3B21B-1D6D-418C-9618-8EC8ABE6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Operadores aritméticos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C5C63E-5A87-4B3D-A348-4F0278F51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84445" cy="3833739"/>
          </a:xfrm>
        </p:spPr>
        <p:txBody>
          <a:bodyPr>
            <a:normAutofit fontScale="92500" lnSpcReduction="20000"/>
          </a:bodyPr>
          <a:lstStyle/>
          <a:p>
            <a:r>
              <a:rPr lang="es-MX" sz="2600" dirty="0"/>
              <a:t>Los operadores aritméticos permiten realizar operaciones matemáticas básicas y son esenciales en cálculos de ingeniería, análisis de datos y simulaciones.</a:t>
            </a:r>
          </a:p>
          <a:p>
            <a:r>
              <a:rPr lang="es-MX" sz="2600" dirty="0"/>
              <a:t>Estructura de código:</a:t>
            </a:r>
          </a:p>
          <a:p>
            <a:pPr marL="0" indent="0">
              <a:buNone/>
            </a:pPr>
            <a:r>
              <a:rPr lang="es-MX" sz="2600" dirty="0"/>
              <a:t>resultado = valor1 operador valor2</a:t>
            </a:r>
          </a:p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693BF07-D9A8-48CB-B352-AE96F5432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899213"/>
              </p:ext>
            </p:extLst>
          </p:nvPr>
        </p:nvGraphicFramePr>
        <p:xfrm>
          <a:off x="6355978" y="2088683"/>
          <a:ext cx="4905003" cy="3200400"/>
        </p:xfrm>
        <a:graphic>
          <a:graphicData uri="http://schemas.openxmlformats.org/drawingml/2006/table">
            <a:tbl>
              <a:tblPr/>
              <a:tblGrid>
                <a:gridCol w="1635001">
                  <a:extLst>
                    <a:ext uri="{9D8B030D-6E8A-4147-A177-3AD203B41FA5}">
                      <a16:colId xmlns:a16="http://schemas.microsoft.com/office/drawing/2014/main" val="2435606523"/>
                    </a:ext>
                  </a:extLst>
                </a:gridCol>
                <a:gridCol w="1635001">
                  <a:extLst>
                    <a:ext uri="{9D8B030D-6E8A-4147-A177-3AD203B41FA5}">
                      <a16:colId xmlns:a16="http://schemas.microsoft.com/office/drawing/2014/main" val="3789557133"/>
                    </a:ext>
                  </a:extLst>
                </a:gridCol>
                <a:gridCol w="1635001">
                  <a:extLst>
                    <a:ext uri="{9D8B030D-6E8A-4147-A177-3AD203B41FA5}">
                      <a16:colId xmlns:a16="http://schemas.microsoft.com/office/drawing/2014/main" val="2607649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Descripción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210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Suma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+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796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Resta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-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84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Multiplicación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*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54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División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/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53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//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División entera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//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34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Módulo (residuo)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%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785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Potencia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 **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0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55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5FC1E-2D01-453C-B806-551DF2C2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704F9C-9C25-4B7E-8E93-4A19B2D71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084" y="2114202"/>
            <a:ext cx="6193832" cy="15837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AE0241-5A15-44A2-9450-B3036261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380" y="4555734"/>
            <a:ext cx="6025239" cy="56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7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9D7B5-DCF7-497A-99F9-7E5E86D24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Operadores lógicos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A885D8-B135-49F1-976C-C193FEBC1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89" y="2015732"/>
            <a:ext cx="5392974" cy="4037749"/>
          </a:xfrm>
        </p:spPr>
        <p:txBody>
          <a:bodyPr>
            <a:normAutofit/>
          </a:bodyPr>
          <a:lstStyle/>
          <a:p>
            <a:r>
              <a:rPr lang="es-MX" sz="2400" dirty="0"/>
              <a:t>Los operadores lógicos se utilizan para </a:t>
            </a:r>
            <a:r>
              <a:rPr lang="es-MX" sz="2400" b="1" dirty="0"/>
              <a:t>combinar condiciones</a:t>
            </a:r>
            <a:r>
              <a:rPr lang="es-MX" sz="2400" dirty="0"/>
              <a:t> y obtener resultados </a:t>
            </a:r>
            <a:r>
              <a:rPr lang="es-MX" sz="2400" b="1" dirty="0"/>
              <a:t>Verdadero (True)</a:t>
            </a:r>
            <a:r>
              <a:rPr lang="es-MX" sz="2400" dirty="0"/>
              <a:t> o </a:t>
            </a:r>
            <a:r>
              <a:rPr lang="es-MX" sz="2400" b="1" dirty="0"/>
              <a:t>Falso (False)</a:t>
            </a:r>
            <a:r>
              <a:rPr lang="es-MX" sz="2400" dirty="0"/>
              <a:t>. Son fundamentales en la toma de decisiones dentro de un programa.</a:t>
            </a:r>
          </a:p>
          <a:p>
            <a:r>
              <a:rPr lang="es-MX" sz="2400" dirty="0"/>
              <a:t>Estructura de código:</a:t>
            </a:r>
          </a:p>
          <a:p>
            <a:pPr marL="0" indent="0">
              <a:buNone/>
            </a:pPr>
            <a:r>
              <a:rPr lang="es-CO" sz="2400" dirty="0"/>
              <a:t>resultado = condicion1 </a:t>
            </a:r>
            <a:r>
              <a:rPr lang="es-CO" sz="2400" dirty="0" err="1"/>
              <a:t>operador_logico</a:t>
            </a:r>
            <a:r>
              <a:rPr lang="es-CO" sz="2400" dirty="0"/>
              <a:t> condicion2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E1C6E7C-18BD-4274-88D0-99FF8E7F3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640187"/>
              </p:ext>
            </p:extLst>
          </p:nvPr>
        </p:nvGraphicFramePr>
        <p:xfrm>
          <a:off x="6656294" y="2383307"/>
          <a:ext cx="5150224" cy="2834640"/>
        </p:xfrm>
        <a:graphic>
          <a:graphicData uri="http://schemas.openxmlformats.org/drawingml/2006/table">
            <a:tbl>
              <a:tblPr/>
              <a:tblGrid>
                <a:gridCol w="1183341">
                  <a:extLst>
                    <a:ext uri="{9D8B030D-6E8A-4147-A177-3AD203B41FA5}">
                      <a16:colId xmlns:a16="http://schemas.microsoft.com/office/drawing/2014/main" val="1131313334"/>
                    </a:ext>
                  </a:extLst>
                </a:gridCol>
                <a:gridCol w="2245659">
                  <a:extLst>
                    <a:ext uri="{9D8B030D-6E8A-4147-A177-3AD203B41FA5}">
                      <a16:colId xmlns:a16="http://schemas.microsoft.com/office/drawing/2014/main" val="153287552"/>
                    </a:ext>
                  </a:extLst>
                </a:gridCol>
                <a:gridCol w="1721224">
                  <a:extLst>
                    <a:ext uri="{9D8B030D-6E8A-4147-A177-3AD203B41FA5}">
                      <a16:colId xmlns:a16="http://schemas.microsoft.com/office/drawing/2014/main" val="2451631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Descripción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799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Devuelve True si ambas condiciones son verdaderas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&gt; 5 and b &lt;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03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Devuelve True si al menos una condición es verdadera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&gt; 5 or b &lt;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42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Invierte el valor lógico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not</a:t>
                      </a:r>
                      <a:r>
                        <a:rPr lang="es-CO" dirty="0"/>
                        <a:t>(a &gt; 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017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28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70A54-CCE9-4F37-A011-039C279B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01738D-BFBE-4612-BB29-659477A3D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269" y="2062326"/>
            <a:ext cx="5021894" cy="22462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D2F560E-6675-438B-84E4-2193C14F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313" y="4669317"/>
            <a:ext cx="4431373" cy="66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46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C9022-4040-407F-BB90-D5545557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Operadores relacionales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CAF593-2338-4111-8ADA-1230E2F86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920" y="2217438"/>
            <a:ext cx="6146009" cy="3450613"/>
          </a:xfrm>
        </p:spPr>
        <p:txBody>
          <a:bodyPr>
            <a:normAutofit/>
          </a:bodyPr>
          <a:lstStyle/>
          <a:p>
            <a:r>
              <a:rPr lang="es-MX" sz="2400" dirty="0"/>
              <a:t>Los operadores relacionales comparan dos valores o expresiones y devuelven un resultado lógico (True o False).Son esenciales en condicionales y bucles, donde el programa necesita evaluar si una condición se cumple.</a:t>
            </a:r>
          </a:p>
          <a:p>
            <a:r>
              <a:rPr lang="es-MX" sz="2400" dirty="0"/>
              <a:t>Estructura de código:</a:t>
            </a:r>
          </a:p>
          <a:p>
            <a:pPr marL="0" indent="0">
              <a:buNone/>
            </a:pPr>
            <a:r>
              <a:rPr lang="es-MX" sz="2400" dirty="0"/>
              <a:t>resultado = valor1 </a:t>
            </a:r>
            <a:r>
              <a:rPr lang="es-MX" sz="2400" dirty="0" err="1"/>
              <a:t>operador_relacional</a:t>
            </a:r>
            <a:r>
              <a:rPr lang="es-MX" sz="2400" dirty="0"/>
              <a:t> valor2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211D342-0149-4ABD-9DD8-960E22402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622514"/>
              </p:ext>
            </p:extLst>
          </p:nvPr>
        </p:nvGraphicFramePr>
        <p:xfrm>
          <a:off x="6799126" y="2388264"/>
          <a:ext cx="5043954" cy="3108960"/>
        </p:xfrm>
        <a:graphic>
          <a:graphicData uri="http://schemas.openxmlformats.org/drawingml/2006/table">
            <a:tbl>
              <a:tblPr/>
              <a:tblGrid>
                <a:gridCol w="1681318">
                  <a:extLst>
                    <a:ext uri="{9D8B030D-6E8A-4147-A177-3AD203B41FA5}">
                      <a16:colId xmlns:a16="http://schemas.microsoft.com/office/drawing/2014/main" val="3106864195"/>
                    </a:ext>
                  </a:extLst>
                </a:gridCol>
                <a:gridCol w="1681318">
                  <a:extLst>
                    <a:ext uri="{9D8B030D-6E8A-4147-A177-3AD203B41FA5}">
                      <a16:colId xmlns:a16="http://schemas.microsoft.com/office/drawing/2014/main" val="3200006534"/>
                    </a:ext>
                  </a:extLst>
                </a:gridCol>
                <a:gridCol w="1681318">
                  <a:extLst>
                    <a:ext uri="{9D8B030D-6E8A-4147-A177-3AD203B41FA5}">
                      <a16:colId xmlns:a16="http://schemas.microsoft.com/office/drawing/2014/main" val="817751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Descripción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57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==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Igual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==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339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!=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Diferente 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!=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34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Mayor 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&gt;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23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Menor 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&lt;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87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Mayor o igual 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 &gt;=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730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&lt;=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Menor o igual 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 &lt;=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192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82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959DF-7867-4137-A92C-6985335EC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8F927C-3EB2-447E-8AF4-D89D1339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28" y="2285165"/>
            <a:ext cx="5340143" cy="20179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8641F3-79AE-4BE0-88C6-75A69558A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891" y="4836437"/>
            <a:ext cx="4628218" cy="52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1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56436-4D8B-4C27-95C4-5DCC2A13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Operadores de asignación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316AC9-F19A-48E5-B888-1977F255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67" y="2082966"/>
            <a:ext cx="5352633" cy="3833739"/>
          </a:xfrm>
        </p:spPr>
        <p:txBody>
          <a:bodyPr>
            <a:noAutofit/>
          </a:bodyPr>
          <a:lstStyle/>
          <a:p>
            <a:r>
              <a:rPr lang="es-MX" sz="2400" dirty="0"/>
              <a:t>Los operadores de asignación se utilizan para dar un valor a una </a:t>
            </a:r>
            <a:r>
              <a:rPr lang="es-MX" sz="2400" dirty="0" err="1"/>
              <a:t>variable.Además</a:t>
            </a:r>
            <a:r>
              <a:rPr lang="es-MX" sz="2400" dirty="0"/>
              <a:t> del operador =, Python ofrece versiones combinadas que realizan una operación y asignan el resultado en una sola línea.</a:t>
            </a:r>
          </a:p>
          <a:p>
            <a:r>
              <a:rPr lang="es-MX" sz="2400" dirty="0"/>
              <a:t>Estructura de código:</a:t>
            </a:r>
          </a:p>
          <a:p>
            <a:pPr marL="0" indent="0">
              <a:buNone/>
            </a:pPr>
            <a:r>
              <a:rPr lang="es-CO" sz="2400" dirty="0"/>
              <a:t>variable </a:t>
            </a:r>
            <a:r>
              <a:rPr lang="es-CO" sz="2400" dirty="0" err="1"/>
              <a:t>operador_asignacion</a:t>
            </a:r>
            <a:r>
              <a:rPr lang="es-CO" sz="2400" dirty="0"/>
              <a:t> valor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62B847F-8E94-424B-9B48-49C7DCAB2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487294"/>
              </p:ext>
            </p:extLst>
          </p:nvPr>
        </p:nvGraphicFramePr>
        <p:xfrm>
          <a:off x="6306671" y="2466190"/>
          <a:ext cx="5688105" cy="2834640"/>
        </p:xfrm>
        <a:graphic>
          <a:graphicData uri="http://schemas.openxmlformats.org/drawingml/2006/table">
            <a:tbl>
              <a:tblPr/>
              <a:tblGrid>
                <a:gridCol w="1488845">
                  <a:extLst>
                    <a:ext uri="{9D8B030D-6E8A-4147-A177-3AD203B41FA5}">
                      <a16:colId xmlns:a16="http://schemas.microsoft.com/office/drawing/2014/main" val="4112450832"/>
                    </a:ext>
                  </a:extLst>
                </a:gridCol>
                <a:gridCol w="1976717">
                  <a:extLst>
                    <a:ext uri="{9D8B030D-6E8A-4147-A177-3AD203B41FA5}">
                      <a16:colId xmlns:a16="http://schemas.microsoft.com/office/drawing/2014/main" val="1562035150"/>
                    </a:ext>
                  </a:extLst>
                </a:gridCol>
                <a:gridCol w="2222543">
                  <a:extLst>
                    <a:ext uri="{9D8B030D-6E8A-4147-A177-3AD203B41FA5}">
                      <a16:colId xmlns:a16="http://schemas.microsoft.com/office/drawing/2014/main" val="1154763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Descripción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543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Asigna un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x =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488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+=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Suma y asigna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x += 2 → (x = x + 2)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33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-=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Resta y asigna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x -= 3 → (x = x - 3)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86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*=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Multiplica y asigna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x *=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349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/=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Divide y asigna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x /=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570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/>
                        <a:t>%=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Calcula el módulo y asigna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x %=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389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4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5B609-5ACC-496D-AD76-D052D0DF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527E7A-FD0E-4EE9-B4BA-9D1C12E45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35" y="2241783"/>
            <a:ext cx="6467130" cy="12325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B34141D-5931-449D-9590-F55A7F8AE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944" y="3958473"/>
            <a:ext cx="5812111" cy="6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99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AFA09-EFD2-4FA1-B842-A69D3308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2. Condicionales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135CA4-5720-46EA-A0A6-78DD1E871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MX" sz="2400" dirty="0"/>
              <a:t>Las </a:t>
            </a:r>
            <a:r>
              <a:rPr lang="es-MX" sz="2400" b="1" dirty="0"/>
              <a:t>estructuras condicionales</a:t>
            </a:r>
            <a:r>
              <a:rPr lang="es-MX" sz="2400" dirty="0"/>
              <a:t> permiten que un programa </a:t>
            </a:r>
            <a:r>
              <a:rPr lang="es-MX" sz="2400" b="1" dirty="0"/>
              <a:t>tome decisiones</a:t>
            </a:r>
            <a:r>
              <a:rPr lang="es-MX" sz="2400" dirty="0"/>
              <a:t> basadas en el cumplimiento o no de una condición.</a:t>
            </a:r>
            <a:br>
              <a:rPr lang="es-MX" sz="2400" dirty="0"/>
            </a:br>
            <a:r>
              <a:rPr lang="es-MX" sz="2400" dirty="0"/>
              <a:t>En Python, las condicionales se utilizan para ejecutar diferentes bloques de código dependiendo del resultado de una comparación lógica o relacional (Verdadero o Falso).</a:t>
            </a:r>
            <a:br>
              <a:rPr lang="es-MX" sz="2400" dirty="0"/>
            </a:br>
            <a:r>
              <a:rPr lang="es-MX" sz="2400" dirty="0"/>
              <a:t>Este concepto es esencial en ingeniería, donde los sistemas deben reaccionar a condiciones del entorno, valores de sensores, o límites de operación.</a:t>
            </a:r>
          </a:p>
        </p:txBody>
      </p:sp>
    </p:spTree>
    <p:extLst>
      <p:ext uri="{BB962C8B-B14F-4D97-AF65-F5344CB8AC3E}">
        <p14:creationId xmlns:p14="http://schemas.microsoft.com/office/powerpoint/2010/main" val="3453011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249FF-B7AE-4D1B-B638-BD91F2EC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Condicional simple: </a:t>
            </a:r>
            <a:r>
              <a:rPr lang="es-CO" dirty="0" err="1"/>
              <a:t>if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1FB0B1-F5DF-4B69-BF40-71216D488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r>
              <a:rPr lang="es-MX" sz="2400" dirty="0"/>
              <a:t>La estructura </a:t>
            </a:r>
            <a:r>
              <a:rPr lang="es-MX" sz="2400" dirty="0" err="1"/>
              <a:t>if</a:t>
            </a:r>
            <a:r>
              <a:rPr lang="es-MX" sz="2400" dirty="0"/>
              <a:t> evalúa una condición; si esta se cumple (es True), se ejecuta el bloque de código </a:t>
            </a:r>
            <a:r>
              <a:rPr lang="es-MX" sz="2400" dirty="0" err="1"/>
              <a:t>asociado.Si</a:t>
            </a:r>
            <a:r>
              <a:rPr lang="es-MX" sz="2400" dirty="0"/>
              <a:t> no se cumple, el programa continúa sin ejecutar ese bloque.</a:t>
            </a:r>
          </a:p>
          <a:p>
            <a:r>
              <a:rPr lang="es-MX" sz="2400" dirty="0"/>
              <a:t>Estructura de código</a:t>
            </a:r>
          </a:p>
          <a:p>
            <a:pPr marL="0" indent="0">
              <a:buNone/>
            </a:pPr>
            <a:r>
              <a:rPr lang="es-MX" sz="2400" dirty="0" err="1"/>
              <a:t>if</a:t>
            </a:r>
            <a:r>
              <a:rPr lang="es-MX" sz="2400" dirty="0"/>
              <a:t> </a:t>
            </a:r>
            <a:r>
              <a:rPr lang="es-MX" sz="2400" dirty="0" err="1"/>
              <a:t>condicion</a:t>
            </a:r>
            <a:r>
              <a:rPr lang="es-MX" sz="2400" dirty="0"/>
              <a:t>:</a:t>
            </a:r>
          </a:p>
          <a:p>
            <a:pPr marL="0" indent="0">
              <a:buNone/>
            </a:pPr>
            <a:r>
              <a:rPr lang="es-MX" sz="2400" dirty="0"/>
              <a:t>    # bloque de código si la condición es verdadera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837587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65ADE-CA28-4183-BC28-C0B23A05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88ED47-6284-44FB-89B2-02C722288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520" y="2742325"/>
            <a:ext cx="6408960" cy="13733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B6E8FD-53B9-4156-A57F-738912D60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024" y="4652871"/>
            <a:ext cx="5543952" cy="46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5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D52D3-B9E5-4B74-A2D4-43C00B26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Condicional doble: </a:t>
            </a:r>
            <a:r>
              <a:rPr lang="es-CO" dirty="0" err="1"/>
              <a:t>if</a:t>
            </a:r>
            <a:r>
              <a:rPr lang="es-CO" dirty="0"/>
              <a:t> - </a:t>
            </a:r>
            <a:r>
              <a:rPr lang="es-CO" dirty="0" err="1"/>
              <a:t>else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6265FB-C6DB-42F2-AD0A-6403A385A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MX" sz="2400" dirty="0"/>
              <a:t>Permite ejecutar un bloque de código si la condición es verdadera (</a:t>
            </a:r>
            <a:r>
              <a:rPr lang="es-MX" sz="2400" dirty="0" err="1"/>
              <a:t>if</a:t>
            </a:r>
            <a:r>
              <a:rPr lang="es-MX" sz="2400" dirty="0"/>
              <a:t>) y otro diferente si es falsa (</a:t>
            </a:r>
            <a:r>
              <a:rPr lang="es-MX" sz="2400" dirty="0" err="1"/>
              <a:t>else</a:t>
            </a:r>
            <a:r>
              <a:rPr lang="es-MX" sz="2400" dirty="0"/>
              <a:t>).</a:t>
            </a:r>
          </a:p>
          <a:p>
            <a:r>
              <a:rPr lang="es-CO" sz="2400" dirty="0"/>
              <a:t>Estructura de código</a:t>
            </a:r>
          </a:p>
          <a:p>
            <a:pPr marL="0" indent="0">
              <a:buNone/>
            </a:pPr>
            <a:r>
              <a:rPr lang="es-MX" sz="2400" dirty="0" err="1"/>
              <a:t>if</a:t>
            </a:r>
            <a:r>
              <a:rPr lang="es-MX" sz="2400" dirty="0"/>
              <a:t> </a:t>
            </a:r>
            <a:r>
              <a:rPr lang="es-MX" sz="2400" dirty="0" err="1"/>
              <a:t>condicion</a:t>
            </a:r>
            <a:r>
              <a:rPr lang="es-MX" sz="2400" dirty="0"/>
              <a:t>:</a:t>
            </a:r>
          </a:p>
          <a:p>
            <a:pPr marL="0" indent="0">
              <a:buNone/>
            </a:pPr>
            <a:r>
              <a:rPr lang="es-MX" sz="2400" dirty="0"/>
              <a:t>    # bloque si la condición es verdadera</a:t>
            </a:r>
          </a:p>
          <a:p>
            <a:pPr marL="0" indent="0">
              <a:buNone/>
            </a:pPr>
            <a:r>
              <a:rPr lang="es-MX" sz="2400" dirty="0" err="1"/>
              <a:t>else</a:t>
            </a:r>
            <a:r>
              <a:rPr lang="es-MX" sz="2400" dirty="0"/>
              <a:t>:</a:t>
            </a:r>
          </a:p>
          <a:p>
            <a:pPr marL="0" indent="0">
              <a:buNone/>
            </a:pPr>
            <a:r>
              <a:rPr lang="es-MX" sz="2400" dirty="0"/>
              <a:t>    # bloque si la condición es falsa</a:t>
            </a:r>
          </a:p>
        </p:txBody>
      </p:sp>
    </p:spTree>
    <p:extLst>
      <p:ext uri="{BB962C8B-B14F-4D97-AF65-F5344CB8AC3E}">
        <p14:creationId xmlns:p14="http://schemas.microsoft.com/office/powerpoint/2010/main" val="1002196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2872B-E098-470A-94AB-3E4AE4A2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32CF27-A7B5-4C6E-9741-EFA7C0B0E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739" y="2219049"/>
            <a:ext cx="5580521" cy="19350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8EAA38-11B8-4780-BA2B-8D2C464CA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672" y="4519424"/>
            <a:ext cx="4709087" cy="36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98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CCFF1-A1A5-4B91-99D0-2CE0ADF0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Condicional</a:t>
            </a:r>
            <a:r>
              <a:rPr lang="en-US" dirty="0"/>
              <a:t> </a:t>
            </a:r>
            <a:r>
              <a:rPr lang="en-US" dirty="0" err="1"/>
              <a:t>múltiple</a:t>
            </a:r>
            <a:r>
              <a:rPr lang="en-US" dirty="0"/>
              <a:t>: if - </a:t>
            </a:r>
            <a:r>
              <a:rPr lang="en-US" dirty="0" err="1"/>
              <a:t>elif</a:t>
            </a:r>
            <a:r>
              <a:rPr lang="en-US" dirty="0"/>
              <a:t> - else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76CFFA-8708-414B-8F4B-FFBBD270F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71" y="1853754"/>
            <a:ext cx="10703858" cy="4318446"/>
          </a:xfrm>
        </p:spPr>
        <p:txBody>
          <a:bodyPr>
            <a:noAutofit/>
          </a:bodyPr>
          <a:lstStyle/>
          <a:p>
            <a:r>
              <a:rPr lang="es-MX" dirty="0"/>
              <a:t>La estructura </a:t>
            </a:r>
            <a:r>
              <a:rPr lang="es-MX" dirty="0" err="1"/>
              <a:t>elif</a:t>
            </a:r>
            <a:r>
              <a:rPr lang="es-MX" dirty="0"/>
              <a:t> (abreviación de “</a:t>
            </a:r>
            <a:r>
              <a:rPr lang="es-MX" dirty="0" err="1"/>
              <a:t>else</a:t>
            </a:r>
            <a:r>
              <a:rPr lang="es-MX" dirty="0"/>
              <a:t> </a:t>
            </a:r>
            <a:r>
              <a:rPr lang="es-MX" dirty="0" err="1"/>
              <a:t>if</a:t>
            </a:r>
            <a:r>
              <a:rPr lang="es-MX" dirty="0"/>
              <a:t>”) permite evaluar múltiples condiciones en </a:t>
            </a:r>
            <a:r>
              <a:rPr lang="es-MX" dirty="0" err="1"/>
              <a:t>secuencia.El</a:t>
            </a:r>
            <a:r>
              <a:rPr lang="es-MX" dirty="0"/>
              <a:t> programa ejecuta el bloque correspondiente a la primera condición verdadera y omite las demás.</a:t>
            </a:r>
          </a:p>
          <a:p>
            <a:r>
              <a:rPr lang="es-MX" dirty="0"/>
              <a:t>Estructura de código</a:t>
            </a:r>
          </a:p>
          <a:p>
            <a:pPr marL="0" indent="0">
              <a:buNone/>
            </a:pPr>
            <a:r>
              <a:rPr lang="es-CO" dirty="0" err="1"/>
              <a:t>if</a:t>
            </a:r>
            <a:r>
              <a:rPr lang="es-CO" dirty="0"/>
              <a:t> condicion1:</a:t>
            </a:r>
          </a:p>
          <a:p>
            <a:pPr marL="0" indent="0">
              <a:buNone/>
            </a:pPr>
            <a:r>
              <a:rPr lang="es-CO" dirty="0"/>
              <a:t>    # bloque 1</a:t>
            </a:r>
          </a:p>
          <a:p>
            <a:pPr marL="0" indent="0">
              <a:buNone/>
            </a:pPr>
            <a:r>
              <a:rPr lang="es-CO" dirty="0" err="1"/>
              <a:t>elif</a:t>
            </a:r>
            <a:r>
              <a:rPr lang="es-CO" dirty="0"/>
              <a:t> condicion2:</a:t>
            </a:r>
          </a:p>
          <a:p>
            <a:pPr marL="0" indent="0">
              <a:buNone/>
            </a:pPr>
            <a:r>
              <a:rPr lang="es-CO" dirty="0"/>
              <a:t>    # bloque 2</a:t>
            </a:r>
          </a:p>
          <a:p>
            <a:pPr marL="0" indent="0">
              <a:buNone/>
            </a:pPr>
            <a:r>
              <a:rPr lang="es-CO" dirty="0" err="1"/>
              <a:t>else</a:t>
            </a:r>
            <a:r>
              <a:rPr lang="es-CO" dirty="0"/>
              <a:t>:</a:t>
            </a:r>
          </a:p>
          <a:p>
            <a:pPr marL="0" indent="0">
              <a:buNone/>
            </a:pPr>
            <a:r>
              <a:rPr lang="es-CO" dirty="0"/>
              <a:t>    # bloque 3</a:t>
            </a:r>
          </a:p>
        </p:txBody>
      </p:sp>
    </p:spTree>
    <p:extLst>
      <p:ext uri="{BB962C8B-B14F-4D97-AF65-F5344CB8AC3E}">
        <p14:creationId xmlns:p14="http://schemas.microsoft.com/office/powerpoint/2010/main" val="2350025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17525-983F-46FA-AB11-9F247A97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2D82E2-CEA8-4C03-9B98-752ABCF6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579" y="2187440"/>
            <a:ext cx="5190842" cy="24831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7B9A011-8D1D-4A8B-8F01-4FFC2C56C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352" y="5004246"/>
            <a:ext cx="3703295" cy="4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8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EAB22-5972-4126-902C-84C66A7D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Condicional anidado (</a:t>
            </a:r>
            <a:r>
              <a:rPr lang="es-CO" dirty="0" err="1"/>
              <a:t>if</a:t>
            </a:r>
            <a:r>
              <a:rPr lang="es-CO" dirty="0"/>
              <a:t> dentro de </a:t>
            </a:r>
            <a:r>
              <a:rPr lang="es-CO" dirty="0" err="1"/>
              <a:t>if</a:t>
            </a:r>
            <a:r>
              <a:rPr lang="es-CO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16876B-D9F6-4883-BC56-6D1D2FAF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813413"/>
            <a:ext cx="9917708" cy="4372234"/>
          </a:xfrm>
        </p:spPr>
        <p:txBody>
          <a:bodyPr>
            <a:noAutofit/>
          </a:bodyPr>
          <a:lstStyle/>
          <a:p>
            <a:r>
              <a:rPr lang="es-MX" sz="1800" dirty="0"/>
              <a:t>Un </a:t>
            </a:r>
            <a:r>
              <a:rPr lang="es-MX" sz="1800" b="1" dirty="0" err="1"/>
              <a:t>if</a:t>
            </a:r>
            <a:r>
              <a:rPr lang="es-MX" sz="1800" b="1" dirty="0"/>
              <a:t> anidado</a:t>
            </a:r>
            <a:r>
              <a:rPr lang="es-MX" sz="1800" dirty="0"/>
              <a:t> permite evaluar una condición dentro de otra, es decir, combinar decisiones jerárquicas. Se usa cuando el resultado de una primera evaluación requiere un análisis adicional.</a:t>
            </a:r>
          </a:p>
          <a:p>
            <a:r>
              <a:rPr lang="es-MX" sz="1800" dirty="0"/>
              <a:t>Estructura de código</a:t>
            </a:r>
          </a:p>
          <a:p>
            <a:pPr marL="0" indent="0">
              <a:buNone/>
            </a:pPr>
            <a:r>
              <a:rPr lang="es-MX" sz="1800" dirty="0" err="1"/>
              <a:t>if</a:t>
            </a:r>
            <a:r>
              <a:rPr lang="es-MX" sz="1800" dirty="0"/>
              <a:t> condicion1:</a:t>
            </a:r>
          </a:p>
          <a:p>
            <a:pPr marL="0" indent="0">
              <a:buNone/>
            </a:pPr>
            <a:r>
              <a:rPr lang="es-MX" sz="1800" dirty="0"/>
              <a:t>    </a:t>
            </a:r>
            <a:r>
              <a:rPr lang="es-MX" sz="1800" dirty="0" err="1"/>
              <a:t>if</a:t>
            </a:r>
            <a:r>
              <a:rPr lang="es-MX" sz="1800" dirty="0"/>
              <a:t> condicion2:</a:t>
            </a:r>
          </a:p>
          <a:p>
            <a:pPr marL="0" indent="0">
              <a:buNone/>
            </a:pPr>
            <a:r>
              <a:rPr lang="es-MX" sz="1800" dirty="0"/>
              <a:t>        # bloque si ambas condiciones son verdaderas</a:t>
            </a:r>
          </a:p>
          <a:p>
            <a:pPr marL="0" indent="0">
              <a:buNone/>
            </a:pPr>
            <a:r>
              <a:rPr lang="es-MX" sz="1800" dirty="0"/>
              <a:t>    </a:t>
            </a:r>
            <a:r>
              <a:rPr lang="es-MX" sz="1800" dirty="0" err="1"/>
              <a:t>else</a:t>
            </a:r>
            <a:r>
              <a:rPr lang="es-MX" sz="1800" dirty="0"/>
              <a:t>:</a:t>
            </a:r>
          </a:p>
          <a:p>
            <a:pPr marL="0" indent="0">
              <a:buNone/>
            </a:pPr>
            <a:r>
              <a:rPr lang="es-MX" sz="1800" dirty="0"/>
              <a:t>        # bloque si solo la primera es verdadera</a:t>
            </a:r>
          </a:p>
          <a:p>
            <a:pPr marL="0" indent="0">
              <a:buNone/>
            </a:pPr>
            <a:r>
              <a:rPr lang="es-MX" sz="1800" dirty="0" err="1"/>
              <a:t>else</a:t>
            </a:r>
            <a:r>
              <a:rPr lang="es-MX" sz="1800" dirty="0"/>
              <a:t>:</a:t>
            </a:r>
          </a:p>
          <a:p>
            <a:pPr marL="0" indent="0">
              <a:buNone/>
            </a:pPr>
            <a:r>
              <a:rPr lang="es-MX" sz="1800" dirty="0"/>
              <a:t>    # bloque si la primera condición es falsa</a:t>
            </a:r>
          </a:p>
        </p:txBody>
      </p:sp>
    </p:spTree>
    <p:extLst>
      <p:ext uri="{BB962C8B-B14F-4D97-AF65-F5344CB8AC3E}">
        <p14:creationId xmlns:p14="http://schemas.microsoft.com/office/powerpoint/2010/main" val="1781805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A6655-9D25-4305-B972-C16F0260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C191B1-1177-455A-8AB2-C3901E25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474" y="1936283"/>
            <a:ext cx="5785051" cy="29854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17061F-F9EC-4810-A36E-FD478C2DB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684" y="5227244"/>
            <a:ext cx="3516631" cy="4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52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C276F-5CC4-4793-B3B8-581D691CD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3. Ciclos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D95797-3527-4857-AF8A-6AC778B4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Los ciclos o bucles en programación permiten repetir un bloque de código varias veces sin necesidad de escribirlo manualmente.</a:t>
            </a:r>
          </a:p>
          <a:p>
            <a:r>
              <a:rPr lang="es-MX" sz="2400" dirty="0"/>
              <a:t>En ingeniería y análisis de datos, los ciclos son muy útiles para procesar grandes volúmenes de información, realizar cálculos repetitivos, o automatizar tareas como mediciones, registros o simulaciones.</a:t>
            </a:r>
          </a:p>
          <a:p>
            <a:r>
              <a:rPr lang="es-MX" sz="2400" dirty="0"/>
              <a:t>Python cuenta con dos estructuras principales de ciclo: </a:t>
            </a:r>
            <a:r>
              <a:rPr lang="es-MX" sz="2400" dirty="0" err="1"/>
              <a:t>for</a:t>
            </a:r>
            <a:r>
              <a:rPr lang="es-MX" sz="2400" dirty="0"/>
              <a:t> y </a:t>
            </a:r>
            <a:r>
              <a:rPr lang="es-MX" sz="2400" dirty="0" err="1"/>
              <a:t>while</a:t>
            </a:r>
            <a:r>
              <a:rPr lang="es-MX" sz="2400" dirty="0"/>
              <a:t>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716243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91B69-BDD8-486C-A1A4-105369D5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Ciclo </a:t>
            </a:r>
            <a:r>
              <a:rPr lang="es-CO" dirty="0" err="1"/>
              <a:t>for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DD7ABC-50A9-4B03-8E57-1FDBDDB9E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MX" sz="2400" dirty="0"/>
              <a:t>El ciclo </a:t>
            </a:r>
            <a:r>
              <a:rPr lang="es-MX" sz="2400" dirty="0" err="1"/>
              <a:t>for</a:t>
            </a:r>
            <a:r>
              <a:rPr lang="es-MX" sz="2400" dirty="0"/>
              <a:t> se utiliza para recorrer una secuencia (como una lista, tupla, diccionario, cadena o rango de números) y ejecutar un bloque de código una vez por cada elemento. Es muy útil cuando se conoce cuántas veces se debe repetir la acción.</a:t>
            </a:r>
          </a:p>
          <a:p>
            <a:r>
              <a:rPr lang="es-MX" sz="2400" dirty="0"/>
              <a:t>Estructura de código</a:t>
            </a:r>
          </a:p>
          <a:p>
            <a:pPr marL="0" indent="0">
              <a:buNone/>
            </a:pPr>
            <a:r>
              <a:rPr lang="es-CO" sz="2400" dirty="0" err="1"/>
              <a:t>for</a:t>
            </a:r>
            <a:r>
              <a:rPr lang="es-CO" sz="2400" dirty="0"/>
              <a:t> variable in secuencia:</a:t>
            </a:r>
          </a:p>
          <a:p>
            <a:pPr marL="0" indent="0">
              <a:buNone/>
            </a:pPr>
            <a:r>
              <a:rPr lang="es-CO" sz="2400" dirty="0"/>
              <a:t>    # bloque de código a repetir</a:t>
            </a:r>
          </a:p>
        </p:txBody>
      </p:sp>
    </p:spTree>
    <p:extLst>
      <p:ext uri="{BB962C8B-B14F-4D97-AF65-F5344CB8AC3E}">
        <p14:creationId xmlns:p14="http://schemas.microsoft.com/office/powerpoint/2010/main" val="833503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F81B4-CDF3-44A9-8026-32DD7ED5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BCB2BA-8DA1-4A1A-BC87-05E4FC20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722" y="2170746"/>
            <a:ext cx="4960556" cy="20689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534827-DE20-4337-B7D7-3B9A120DD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618" y="4556652"/>
            <a:ext cx="2496764" cy="11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2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E2944-1FAC-4F64-94D9-AE713685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Ciclo </a:t>
            </a:r>
            <a:r>
              <a:rPr lang="es-CO" dirty="0" err="1"/>
              <a:t>while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C93351-691B-483E-B87E-38C7F917F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El ciclo </a:t>
            </a:r>
            <a:r>
              <a:rPr lang="es-MX" sz="2400" dirty="0" err="1"/>
              <a:t>while</a:t>
            </a:r>
            <a:r>
              <a:rPr lang="es-MX" sz="2400" dirty="0"/>
              <a:t> ejecuta un bloque de código mientras una condición sea verdadera. Es útil cuando no se sabe de antemano cuántas repeticiones serán necesarias, pero existe una condición de parada.</a:t>
            </a:r>
          </a:p>
          <a:p>
            <a:r>
              <a:rPr lang="es-MX" sz="2400" dirty="0"/>
              <a:t>Estructura de código:</a:t>
            </a:r>
          </a:p>
          <a:p>
            <a:pPr marL="0" indent="0">
              <a:buNone/>
            </a:pPr>
            <a:r>
              <a:rPr lang="pt-BR" sz="2400" dirty="0" err="1"/>
              <a:t>while</a:t>
            </a:r>
            <a:r>
              <a:rPr lang="pt-BR" sz="2400" dirty="0"/>
              <a:t> </a:t>
            </a:r>
            <a:r>
              <a:rPr lang="pt-BR" sz="2400" dirty="0" err="1"/>
              <a:t>condicion</a:t>
            </a:r>
            <a:r>
              <a:rPr lang="pt-BR" sz="2400" dirty="0"/>
              <a:t>:</a:t>
            </a:r>
          </a:p>
          <a:p>
            <a:pPr marL="0" indent="0">
              <a:buNone/>
            </a:pPr>
            <a:r>
              <a:rPr lang="pt-BR" sz="2400" dirty="0"/>
              <a:t>    # bloque de código</a:t>
            </a:r>
          </a:p>
        </p:txBody>
      </p:sp>
    </p:spTree>
    <p:extLst>
      <p:ext uri="{BB962C8B-B14F-4D97-AF65-F5344CB8AC3E}">
        <p14:creationId xmlns:p14="http://schemas.microsoft.com/office/powerpoint/2010/main" val="1055284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01FF3-E9FE-4CB3-9560-8BC9621A4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994DE8-5C43-4D82-ADAC-D2E2A4C77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031" y="2050823"/>
            <a:ext cx="5027938" cy="23598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7D0F9C-4605-44FF-8133-D97271C85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388" y="4607703"/>
            <a:ext cx="2375223" cy="148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2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05395-EC15-4065-9F2E-F0C95FFB2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Uso de </a:t>
            </a:r>
            <a:r>
              <a:rPr lang="es-MX" dirty="0" err="1"/>
              <a:t>range</a:t>
            </a:r>
            <a:r>
              <a:rPr lang="es-MX" dirty="0"/>
              <a:t>() con ciclos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8482F1-B886-45BB-8E12-88589DF52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3397"/>
          </a:xfrm>
        </p:spPr>
        <p:txBody>
          <a:bodyPr>
            <a:no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range</a:t>
            </a:r>
            <a:r>
              <a:rPr lang="es-MX" dirty="0"/>
              <a:t>() genera una secuencia de números que puede usarse con </a:t>
            </a:r>
            <a:r>
              <a:rPr lang="es-MX" dirty="0" err="1"/>
              <a:t>for</a:t>
            </a:r>
            <a:r>
              <a:rPr lang="es-MX" dirty="0"/>
              <a:t> para repetir una acción un número determinado de veces.</a:t>
            </a:r>
          </a:p>
          <a:p>
            <a:r>
              <a:rPr lang="es-MX" dirty="0"/>
              <a:t>Estructura de código:</a:t>
            </a:r>
          </a:p>
          <a:p>
            <a:pPr marL="0" indent="0">
              <a:buNone/>
            </a:pPr>
            <a:r>
              <a:rPr lang="es-MX" dirty="0" err="1"/>
              <a:t>for</a:t>
            </a:r>
            <a:r>
              <a:rPr lang="es-MX" dirty="0"/>
              <a:t> i in </a:t>
            </a:r>
            <a:r>
              <a:rPr lang="es-MX" dirty="0" err="1"/>
              <a:t>range</a:t>
            </a:r>
            <a:r>
              <a:rPr lang="es-MX" dirty="0"/>
              <a:t>(inicio, fin, paso):</a:t>
            </a:r>
          </a:p>
          <a:p>
            <a:pPr marL="0" indent="0">
              <a:buNone/>
            </a:pPr>
            <a:r>
              <a:rPr lang="es-MX" dirty="0"/>
              <a:t>    # bloque de código</a:t>
            </a:r>
          </a:p>
          <a:p>
            <a:pPr marL="0" indent="0">
              <a:buNone/>
            </a:pPr>
            <a:r>
              <a:rPr lang="es-MX" dirty="0"/>
              <a:t>inicio: número desde donde comienza la secuencia (por defecto 0).</a:t>
            </a:r>
          </a:p>
          <a:p>
            <a:pPr marL="0" indent="0">
              <a:buNone/>
            </a:pPr>
            <a:r>
              <a:rPr lang="es-MX" dirty="0"/>
              <a:t>fin: número donde se detiene (no se incluye).</a:t>
            </a:r>
          </a:p>
          <a:p>
            <a:pPr marL="0" indent="0">
              <a:buNone/>
            </a:pPr>
            <a:r>
              <a:rPr lang="es-MX" dirty="0"/>
              <a:t>paso: incremento entre valores (opcional).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68369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01F8F-A5E0-4F74-97A0-8535D8E3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00923F-43B0-4DB4-8B29-B9B9BEF29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769" y="2207934"/>
            <a:ext cx="5838505" cy="13136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7E879D-EA22-4DC6-B385-6F27D6735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457" y="3737740"/>
            <a:ext cx="2881127" cy="206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35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A57D5-814B-4EEF-A43A-196D5B0B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Instrucciones especiales: break, continue y </a:t>
            </a:r>
            <a:r>
              <a:rPr lang="es-MX" dirty="0" err="1"/>
              <a:t>pass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D72CF7-887C-405D-9327-764FE8D0F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08" y="2123308"/>
            <a:ext cx="3093527" cy="3450613"/>
          </a:xfrm>
        </p:spPr>
        <p:txBody>
          <a:bodyPr>
            <a:normAutofit/>
          </a:bodyPr>
          <a:lstStyle/>
          <a:p>
            <a:r>
              <a:rPr lang="es-MX" sz="2400" dirty="0"/>
              <a:t>Python ofrece sentencias que </a:t>
            </a:r>
            <a:r>
              <a:rPr lang="es-MX" sz="2400" b="1" dirty="0"/>
              <a:t>modifican el comportamiento del ciclo</a:t>
            </a:r>
            <a:r>
              <a:rPr lang="es-MX" sz="2400" dirty="0"/>
              <a:t>:</a:t>
            </a:r>
            <a:endParaRPr lang="es-CO" sz="24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8ABAE43-78E8-458C-BD43-36618BD59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07843"/>
              </p:ext>
            </p:extLst>
          </p:nvPr>
        </p:nvGraphicFramePr>
        <p:xfrm>
          <a:off x="4028472" y="2369344"/>
          <a:ext cx="7760820" cy="3413760"/>
        </p:xfrm>
        <a:graphic>
          <a:graphicData uri="http://schemas.openxmlformats.org/drawingml/2006/table">
            <a:tbl>
              <a:tblPr/>
              <a:tblGrid>
                <a:gridCol w="2586940">
                  <a:extLst>
                    <a:ext uri="{9D8B030D-6E8A-4147-A177-3AD203B41FA5}">
                      <a16:colId xmlns:a16="http://schemas.microsoft.com/office/drawing/2014/main" val="3407861272"/>
                    </a:ext>
                  </a:extLst>
                </a:gridCol>
                <a:gridCol w="2586940">
                  <a:extLst>
                    <a:ext uri="{9D8B030D-6E8A-4147-A177-3AD203B41FA5}">
                      <a16:colId xmlns:a16="http://schemas.microsoft.com/office/drawing/2014/main" val="110580830"/>
                    </a:ext>
                  </a:extLst>
                </a:gridCol>
                <a:gridCol w="2586940">
                  <a:extLst>
                    <a:ext uri="{9D8B030D-6E8A-4147-A177-3AD203B41FA5}">
                      <a16:colId xmlns:a16="http://schemas.microsoft.com/office/drawing/2014/main" val="2895114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000" b="1"/>
                        <a:t>Instrucción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325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dirty="0"/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Interrumpe el ciclo por completo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Salir de un ciclo cuando se cumpla una condición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182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dirty="0"/>
                        <a:t>continue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Salta a la siguiente iteración sin terminar el ciclo 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/>
                        <a:t>Ignorar un valor o caso específico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12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dirty="0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/>
                        <a:t>No hace nada (se usa como marcador o </a:t>
                      </a:r>
                      <a:r>
                        <a:rPr lang="es-CO" sz="2000" dirty="0" err="1"/>
                        <a:t>placeholder</a:t>
                      </a:r>
                      <a:r>
                        <a:rPr lang="es-CO" sz="20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Mantener una estructura vacía sin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7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605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79544-5927-44E6-A237-C09CF4E9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14E9E0-A22D-4945-9BFE-D5AF2CB6E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477" y="2013703"/>
            <a:ext cx="6769180" cy="24533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09B63F-F1CC-4C04-AF80-80C56BA46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537" y="4734575"/>
            <a:ext cx="4144926" cy="102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39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FD91-D5A3-4C8A-8BAB-30B79EA3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4. </a:t>
            </a:r>
            <a:r>
              <a:rPr lang="es-CO" dirty="0" err="1"/>
              <a:t>FUnciones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5EAA1A-B3D7-40E9-B09A-B7878C1D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Una </a:t>
            </a:r>
            <a:r>
              <a:rPr lang="es-MX" sz="2400" b="1" dirty="0"/>
              <a:t>función</a:t>
            </a:r>
            <a:r>
              <a:rPr lang="es-MX" sz="2400" dirty="0"/>
              <a:t> es un conjunto de sentencias agrupadas bajo un nombre específico que se pueden </a:t>
            </a:r>
            <a:r>
              <a:rPr lang="es-MX" sz="2400" b="1" dirty="0"/>
              <a:t>reutilizar</a:t>
            </a:r>
            <a:r>
              <a:rPr lang="es-MX" sz="2400" dirty="0"/>
              <a:t> para realizar una tarea particular.</a:t>
            </a:r>
          </a:p>
          <a:p>
            <a:r>
              <a:rPr lang="es-MX" sz="2400" dirty="0"/>
              <a:t>El uso de funciones permite </a:t>
            </a:r>
            <a:r>
              <a:rPr lang="es-MX" sz="2400" b="1" dirty="0"/>
              <a:t>organizar el código, reducir errores y facilitar su mantenimiento</a:t>
            </a:r>
            <a:r>
              <a:rPr lang="es-MX" sz="2400" dirty="0"/>
              <a:t>, lo cual es clave en proyectos de ingeniería o análisis de datos donde se repiten operaciones constantemente.</a:t>
            </a:r>
          </a:p>
        </p:txBody>
      </p:sp>
    </p:spTree>
    <p:extLst>
      <p:ext uri="{BB962C8B-B14F-4D97-AF65-F5344CB8AC3E}">
        <p14:creationId xmlns:p14="http://schemas.microsoft.com/office/powerpoint/2010/main" val="3826640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EB19A-3FCA-4EC1-A69F-119FE989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Funciones sin parámetros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8C100-F47A-46CD-93D9-0879CBB33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53754"/>
            <a:ext cx="9603275" cy="4199727"/>
          </a:xfrm>
        </p:spPr>
        <p:txBody>
          <a:bodyPr>
            <a:noAutofit/>
          </a:bodyPr>
          <a:lstStyle/>
          <a:p>
            <a:r>
              <a:rPr lang="es-MX" dirty="0"/>
              <a:t>Una </a:t>
            </a:r>
            <a:r>
              <a:rPr lang="es-MX" b="1" dirty="0"/>
              <a:t>función sin parámetros</a:t>
            </a:r>
            <a:r>
              <a:rPr lang="es-MX" dirty="0"/>
              <a:t> se utiliza cuando la operación no requiere datos externos; simplemente ejecuta las sentencias internas cada vez que es llamada.</a:t>
            </a:r>
          </a:p>
          <a:p>
            <a:r>
              <a:rPr lang="es-MX" dirty="0"/>
              <a:t>Estructura de código:</a:t>
            </a:r>
          </a:p>
          <a:p>
            <a:pPr marL="0" indent="0">
              <a:buNone/>
            </a:pPr>
            <a:r>
              <a:rPr lang="es-MX" dirty="0" err="1"/>
              <a:t>def</a:t>
            </a:r>
            <a:r>
              <a:rPr lang="es-MX" dirty="0"/>
              <a:t> </a:t>
            </a:r>
            <a:r>
              <a:rPr lang="es-MX" dirty="0" err="1"/>
              <a:t>nombre_funcion</a:t>
            </a:r>
            <a:r>
              <a:rPr lang="es-MX" dirty="0"/>
              <a:t>():</a:t>
            </a:r>
          </a:p>
          <a:p>
            <a:pPr marL="0" indent="0">
              <a:buNone/>
            </a:pPr>
            <a:r>
              <a:rPr lang="es-MX" dirty="0"/>
              <a:t>    # bloque de sentencias</a:t>
            </a:r>
          </a:p>
          <a:p>
            <a:pPr marL="0" indent="0">
              <a:buNone/>
            </a:pPr>
            <a:r>
              <a:rPr lang="es-MX" dirty="0" err="1"/>
              <a:t>def</a:t>
            </a:r>
            <a:r>
              <a:rPr lang="es-MX" dirty="0"/>
              <a:t>: palabra reservada que indica la definición de una función.</a:t>
            </a:r>
          </a:p>
          <a:p>
            <a:pPr marL="0" indent="0">
              <a:buNone/>
            </a:pPr>
            <a:r>
              <a:rPr lang="es-MX" dirty="0" err="1"/>
              <a:t>nombre_funcion</a:t>
            </a:r>
            <a:r>
              <a:rPr lang="es-MX" dirty="0"/>
              <a:t>: nombre asignado a la función (sin espacios).</a:t>
            </a:r>
          </a:p>
          <a:p>
            <a:pPr marL="0" indent="0">
              <a:buNone/>
            </a:pPr>
            <a:r>
              <a:rPr lang="es-MX" dirty="0"/>
              <a:t>() : paréntesis, pueden ir vacíos si no hay parámetros.</a:t>
            </a:r>
          </a:p>
          <a:p>
            <a:pPr marL="0" indent="0">
              <a:buNone/>
            </a:pPr>
            <a:r>
              <a:rPr lang="es-MX" dirty="0"/>
              <a:t>Dentro de la función se colocan las sentencias que se ejecutarán al llamarla.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85692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38CA4-15E8-40FB-A27F-BDE016BA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1271B0-F794-4F4A-B155-CBDC641F4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56" y="2243814"/>
            <a:ext cx="6275888" cy="17230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56688E-0EED-4081-9F81-A2966FB0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055" y="4535840"/>
            <a:ext cx="6275889" cy="5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71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B0B52-7F0C-4AFC-892D-C64D614E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Funciones con parámetros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0034C2-E63C-4993-B4DF-63E0D4DC3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</a:t>
            </a:r>
            <a:r>
              <a:rPr lang="es-MX" b="1" dirty="0"/>
              <a:t>funciones con parámetros</a:t>
            </a:r>
            <a:r>
              <a:rPr lang="es-MX" dirty="0"/>
              <a:t> permiten </a:t>
            </a:r>
            <a:r>
              <a:rPr lang="es-MX" b="1" dirty="0"/>
              <a:t>enviar valores</a:t>
            </a:r>
            <a:r>
              <a:rPr lang="es-MX" dirty="0"/>
              <a:t> desde el programa principal a la función, para que los use en sus operaciones.</a:t>
            </a:r>
            <a:br>
              <a:rPr lang="es-MX" dirty="0"/>
            </a:br>
            <a:r>
              <a:rPr lang="es-MX" dirty="0"/>
              <a:t>Esto las hace más </a:t>
            </a:r>
            <a:r>
              <a:rPr lang="es-MX" b="1" dirty="0"/>
              <a:t>flexibles y reutilizables</a:t>
            </a:r>
            <a:r>
              <a:rPr lang="es-MX" dirty="0"/>
              <a:t>.</a:t>
            </a:r>
          </a:p>
          <a:p>
            <a:r>
              <a:rPr lang="es-MX" dirty="0"/>
              <a:t>Estructura de código</a:t>
            </a:r>
          </a:p>
          <a:p>
            <a:pPr marL="0" indent="0">
              <a:buNone/>
            </a:pPr>
            <a:r>
              <a:rPr lang="es-CO" dirty="0" err="1"/>
              <a:t>def</a:t>
            </a:r>
            <a:r>
              <a:rPr lang="es-CO" dirty="0"/>
              <a:t> </a:t>
            </a:r>
            <a:r>
              <a:rPr lang="es-CO" dirty="0" err="1"/>
              <a:t>nombre_funcion</a:t>
            </a:r>
            <a:r>
              <a:rPr lang="es-CO" dirty="0"/>
              <a:t>(parametro1, parametro2):</a:t>
            </a:r>
          </a:p>
          <a:p>
            <a:pPr marL="0" indent="0">
              <a:buNone/>
            </a:pPr>
            <a:r>
              <a:rPr lang="es-CO" dirty="0"/>
              <a:t>    # bloque de código</a:t>
            </a:r>
          </a:p>
        </p:txBody>
      </p:sp>
    </p:spTree>
    <p:extLst>
      <p:ext uri="{BB962C8B-B14F-4D97-AF65-F5344CB8AC3E}">
        <p14:creationId xmlns:p14="http://schemas.microsoft.com/office/powerpoint/2010/main" val="3205838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40694-CAF5-4E68-AD2E-E7D7BF14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E20342-77DB-47AC-AE5C-AE7D84986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046" y="2362114"/>
            <a:ext cx="5497907" cy="15778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4B6B2B8-48E5-470D-AE81-50FC5FDC7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506" y="4644257"/>
            <a:ext cx="4646987" cy="4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33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30DF7-D186-4222-B9A5-D3BCD161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Funciones con retorno de valores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7F6548-2782-4245-AB7E-277361B40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funciones también pueden devolver un resultado al programa que las llamó, usando la palabra clave </a:t>
            </a:r>
            <a:r>
              <a:rPr lang="es-MX" dirty="0" err="1"/>
              <a:t>return</a:t>
            </a:r>
            <a:r>
              <a:rPr lang="es-MX" dirty="0"/>
              <a:t>. Esto permite almacenar el resultado y reutilizarlo en otras operaciones.</a:t>
            </a:r>
          </a:p>
          <a:p>
            <a:r>
              <a:rPr lang="es-MX" dirty="0"/>
              <a:t>Estructura de código:</a:t>
            </a:r>
          </a:p>
          <a:p>
            <a:pPr marL="0" indent="0">
              <a:buNone/>
            </a:pPr>
            <a:r>
              <a:rPr lang="es-CO" dirty="0" err="1"/>
              <a:t>def</a:t>
            </a:r>
            <a:r>
              <a:rPr lang="es-CO" dirty="0"/>
              <a:t> </a:t>
            </a:r>
            <a:r>
              <a:rPr lang="es-CO" dirty="0" err="1"/>
              <a:t>nombre_funcion</a:t>
            </a:r>
            <a:r>
              <a:rPr lang="es-CO" dirty="0"/>
              <a:t>(</a:t>
            </a:r>
            <a:r>
              <a:rPr lang="es-CO" dirty="0" err="1"/>
              <a:t>parametros</a:t>
            </a:r>
            <a:r>
              <a:rPr lang="es-CO" dirty="0"/>
              <a:t>):</a:t>
            </a:r>
          </a:p>
          <a:p>
            <a:pPr marL="0" indent="0">
              <a:buNone/>
            </a:pPr>
            <a:r>
              <a:rPr lang="es-CO" dirty="0"/>
              <a:t>    # bloque de código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return</a:t>
            </a:r>
            <a:r>
              <a:rPr lang="es-CO" dirty="0"/>
              <a:t> valor</a:t>
            </a:r>
          </a:p>
        </p:txBody>
      </p:sp>
    </p:spTree>
    <p:extLst>
      <p:ext uri="{BB962C8B-B14F-4D97-AF65-F5344CB8AC3E}">
        <p14:creationId xmlns:p14="http://schemas.microsoft.com/office/powerpoint/2010/main" val="4220997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37C7C-96CD-49CE-933C-391C77CE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A8B519-CB2C-4FE4-9B9F-088066D9B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21" y="2142468"/>
            <a:ext cx="5607957" cy="24317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FE655B8-264D-4D56-9BA3-4650ADEBA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132" y="4742426"/>
            <a:ext cx="4253733" cy="57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36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90BD0-ED9C-4224-84DF-44DD2506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Parámetros posicionales y por defecto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DE293B-F326-44A9-A212-6F3F4D350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Posicionales: los argumentos se asignan en el orden en que se pasan.</a:t>
            </a:r>
          </a:p>
          <a:p>
            <a:r>
              <a:rPr lang="es-MX" dirty="0"/>
              <a:t>Por defecto: permiten definir valores predeterminados para los parámetros, que se usan si no se proporciona un argumento.</a:t>
            </a:r>
          </a:p>
          <a:p>
            <a:r>
              <a:rPr lang="es-MX" dirty="0"/>
              <a:t>Estructura de código:</a:t>
            </a:r>
          </a:p>
          <a:p>
            <a:pPr marL="0" indent="0">
              <a:buNone/>
            </a:pPr>
            <a:r>
              <a:rPr lang="pt-BR" dirty="0" err="1"/>
              <a:t>def</a:t>
            </a:r>
            <a:r>
              <a:rPr lang="pt-BR" dirty="0"/>
              <a:t> </a:t>
            </a:r>
            <a:r>
              <a:rPr lang="pt-BR" dirty="0" err="1"/>
              <a:t>nombre_funcion</a:t>
            </a:r>
            <a:r>
              <a:rPr lang="pt-BR" dirty="0"/>
              <a:t>(param1, param2=</a:t>
            </a:r>
            <a:r>
              <a:rPr lang="pt-BR" dirty="0" err="1"/>
              <a:t>valor_por_defecto</a:t>
            </a:r>
            <a:r>
              <a:rPr lang="pt-BR" dirty="0"/>
              <a:t>):</a:t>
            </a:r>
          </a:p>
          <a:p>
            <a:pPr marL="0" indent="0">
              <a:buNone/>
            </a:pPr>
            <a:r>
              <a:rPr lang="pt-BR" dirty="0"/>
              <a:t>    # bloque de código</a:t>
            </a:r>
          </a:p>
        </p:txBody>
      </p:sp>
    </p:spTree>
    <p:extLst>
      <p:ext uri="{BB962C8B-B14F-4D97-AF65-F5344CB8AC3E}">
        <p14:creationId xmlns:p14="http://schemas.microsoft.com/office/powerpoint/2010/main" val="2066236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68B22-C42E-4F77-9547-944CB460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22BC1C-B228-48C5-B8C1-E2278BA5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745" y="2176643"/>
            <a:ext cx="4912509" cy="20188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BF69295-DEA0-4C3A-98EC-0809D197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675" y="4518371"/>
            <a:ext cx="3062650" cy="71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08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EDA1D-329C-49EC-9D0B-501E5AB2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5. Estructuras especiales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CDF78F-1A96-493D-AB75-262AD784E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53056"/>
          </a:xfrm>
        </p:spPr>
        <p:txBody>
          <a:bodyPr>
            <a:noAutofit/>
          </a:bodyPr>
          <a:lstStyle/>
          <a:p>
            <a:r>
              <a:rPr lang="es-MX" sz="2400" dirty="0"/>
              <a:t>Las </a:t>
            </a:r>
            <a:r>
              <a:rPr lang="es-MX" sz="2400" b="1" dirty="0"/>
              <a:t>estructuras especiales de datos</a:t>
            </a:r>
            <a:r>
              <a:rPr lang="es-MX" sz="2400" dirty="0"/>
              <a:t> en Python son contenedores que permiten </a:t>
            </a:r>
            <a:r>
              <a:rPr lang="es-MX" sz="2400" b="1" dirty="0"/>
              <a:t>almacenar, organizar y manipular colecciones de información</a:t>
            </a:r>
            <a:r>
              <a:rPr lang="es-MX" sz="2400" dirty="0"/>
              <a:t>.</a:t>
            </a:r>
            <a:br>
              <a:rPr lang="es-MX" sz="2400" dirty="0"/>
            </a:br>
            <a:r>
              <a:rPr lang="es-MX" sz="2400" dirty="0"/>
              <a:t>Son fundamentales para el análisis de datos y los proyectos de ingeniería, ya que facilitan el manejo de mediciones, registros, valores experimentales o características de elementos.</a:t>
            </a:r>
          </a:p>
          <a:p>
            <a:r>
              <a:rPr lang="es-MX" sz="2400" dirty="0"/>
              <a:t>Python ofrece varias estructuras, entre las más importantes: </a:t>
            </a:r>
            <a:r>
              <a:rPr lang="es-MX" sz="2400" b="1" dirty="0"/>
              <a:t>listas, tuplas, diccionarios y conjuntos</a:t>
            </a:r>
            <a:r>
              <a:rPr lang="es-MX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107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F2B96-F1D5-4DFE-8BF6-0867ABA6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Comparación general de estructuras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C7D2280-82B9-469E-AD88-D5DA3E2FF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64955"/>
              </p:ext>
            </p:extLst>
          </p:nvPr>
        </p:nvGraphicFramePr>
        <p:xfrm>
          <a:off x="1293813" y="2342449"/>
          <a:ext cx="9604374" cy="3200400"/>
        </p:xfrm>
        <a:graphic>
          <a:graphicData uri="http://schemas.openxmlformats.org/drawingml/2006/table">
            <a:tbl>
              <a:tblPr/>
              <a:tblGrid>
                <a:gridCol w="1600729">
                  <a:extLst>
                    <a:ext uri="{9D8B030D-6E8A-4147-A177-3AD203B41FA5}">
                      <a16:colId xmlns:a16="http://schemas.microsoft.com/office/drawing/2014/main" val="4248008075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3118605944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4171336630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1380756893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3867760139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1321091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Estructura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Modificable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Ordenada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Permite duplicados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Tipo de acceso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Ejemplo típico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9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Lista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✅ 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✅ 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✅ 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Por índice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Serie de mediciones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831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Tupla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✅ 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✅ 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Por índice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Dimensiones o constantes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418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Diccionario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✅ 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Parcial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❌ No (claves únicas)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Por clave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Registro de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174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Conjunto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✅ 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Iteración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Elementos únicos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777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207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E149E-74F7-4A44-869E-ECA08252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Listas (</a:t>
            </a:r>
            <a:r>
              <a:rPr lang="es-CO" dirty="0" err="1"/>
              <a:t>list</a:t>
            </a:r>
            <a:r>
              <a:rPr lang="es-CO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D5B979-8062-4ECD-B2B9-327490D4A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Una </a:t>
            </a:r>
            <a:r>
              <a:rPr lang="es-MX" sz="2400" b="1" dirty="0"/>
              <a:t>lista</a:t>
            </a:r>
            <a:r>
              <a:rPr lang="es-MX" sz="2400" dirty="0"/>
              <a:t> es una estructura ordenada y modificable que puede contener </a:t>
            </a:r>
            <a:r>
              <a:rPr lang="es-MX" sz="2400" b="1" dirty="0"/>
              <a:t>elementos de diferentes tipos</a:t>
            </a:r>
            <a:r>
              <a:rPr lang="es-MX" sz="2400" dirty="0"/>
              <a:t> (números, cadenas, booleanos, etc.).</a:t>
            </a:r>
            <a:br>
              <a:rPr lang="es-MX" sz="2400" dirty="0"/>
            </a:br>
            <a:r>
              <a:rPr lang="es-MX" sz="2400" dirty="0"/>
              <a:t>Permite </a:t>
            </a:r>
            <a:r>
              <a:rPr lang="es-MX" sz="2400" b="1" dirty="0"/>
              <a:t>agregar, eliminar y modificar</a:t>
            </a:r>
            <a:r>
              <a:rPr lang="es-MX" sz="2400" dirty="0"/>
              <a:t> elementos fácilmente.</a:t>
            </a:r>
          </a:p>
          <a:p>
            <a:r>
              <a:rPr lang="es-MX" sz="2400" dirty="0"/>
              <a:t>Estructura de código:</a:t>
            </a:r>
          </a:p>
          <a:p>
            <a:pPr marL="0" indent="0">
              <a:buNone/>
            </a:pPr>
            <a:r>
              <a:rPr lang="es-CO" sz="2400" dirty="0" err="1"/>
              <a:t>nombre_lista</a:t>
            </a:r>
            <a:r>
              <a:rPr lang="es-CO" sz="2400" dirty="0"/>
              <a:t> = [elemento1, elemento2, elemento3]</a:t>
            </a:r>
          </a:p>
        </p:txBody>
      </p:sp>
    </p:spTree>
    <p:extLst>
      <p:ext uri="{BB962C8B-B14F-4D97-AF65-F5344CB8AC3E}">
        <p14:creationId xmlns:p14="http://schemas.microsoft.com/office/powerpoint/2010/main" val="3233517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45198-8C83-49DF-8B72-7050C6DE1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F7B29A-4D71-4B1F-ACAD-97D664F85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993" y="2074209"/>
            <a:ext cx="6263689" cy="22516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5FBB63C-6B00-4C0E-8BAC-CFA39427F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917" y="4742017"/>
            <a:ext cx="4284166" cy="51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15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7A48E-6B3D-4F7C-A6A8-CB52AA55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Tuplas (</a:t>
            </a:r>
            <a:r>
              <a:rPr lang="es-CO" dirty="0" err="1"/>
              <a:t>tuple</a:t>
            </a:r>
            <a:r>
              <a:rPr lang="es-CO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639CA5-DF02-4499-B53C-0EE91057E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Una </a:t>
            </a:r>
            <a:r>
              <a:rPr lang="es-MX" b="1" dirty="0"/>
              <a:t>tupla</a:t>
            </a:r>
            <a:r>
              <a:rPr lang="es-MX" dirty="0"/>
              <a:t> es similar a una lista, pero </a:t>
            </a:r>
            <a:r>
              <a:rPr lang="es-MX" b="1" dirty="0"/>
              <a:t>no se puede modificar</a:t>
            </a:r>
            <a:r>
              <a:rPr lang="es-MX" dirty="0"/>
              <a:t> (es inmutable).</a:t>
            </a:r>
            <a:br>
              <a:rPr lang="es-MX" dirty="0"/>
            </a:br>
            <a:r>
              <a:rPr lang="es-MX" dirty="0"/>
              <a:t>Se usa cuando se desea proteger los datos para evitar cambios accidentales, por ejemplo, constantes o parámetros fijos de diseño.</a:t>
            </a:r>
          </a:p>
          <a:p>
            <a:r>
              <a:rPr lang="es-MX" dirty="0"/>
              <a:t>Estructura de código:</a:t>
            </a:r>
          </a:p>
          <a:p>
            <a:pPr marL="0" indent="0">
              <a:buNone/>
            </a:pPr>
            <a:r>
              <a:rPr lang="es-CO" dirty="0" err="1"/>
              <a:t>nombre_tupla</a:t>
            </a:r>
            <a:r>
              <a:rPr lang="es-CO" dirty="0"/>
              <a:t> = (elemento1, elemento2, elemento3)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846244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8AB25-CCB8-4FCA-BA46-FCB50F3B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071716-A54C-4446-8C4C-060FBC45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56" y="2648706"/>
            <a:ext cx="7957887" cy="12120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7A1A07-80E0-4E63-ACE5-B9C1E2424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938" y="4655706"/>
            <a:ext cx="1934123" cy="5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824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7A511-F3E6-4D51-BC07-B3AF7EB3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Diccionarios (</a:t>
            </a:r>
            <a:r>
              <a:rPr lang="es-CO" dirty="0" err="1"/>
              <a:t>dict</a:t>
            </a:r>
            <a:r>
              <a:rPr lang="es-CO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C1CBB-E1B8-41A0-A990-7859ECBE7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12715"/>
          </a:xfrm>
        </p:spPr>
        <p:txBody>
          <a:bodyPr>
            <a:noAutofit/>
          </a:bodyPr>
          <a:lstStyle/>
          <a:p>
            <a:r>
              <a:rPr lang="es-MX" dirty="0"/>
              <a:t>Los </a:t>
            </a:r>
            <a:r>
              <a:rPr lang="es-MX" b="1" dirty="0"/>
              <a:t>diccionarios</a:t>
            </a:r>
            <a:r>
              <a:rPr lang="es-MX" dirty="0"/>
              <a:t> almacenan información en </a:t>
            </a:r>
            <a:r>
              <a:rPr lang="es-MX" b="1" dirty="0"/>
              <a:t>pares clave–valor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Cada elemento tiene una </a:t>
            </a:r>
            <a:r>
              <a:rPr lang="es-MX" b="1" dirty="0"/>
              <a:t>clave única</a:t>
            </a:r>
            <a:r>
              <a:rPr lang="es-MX" dirty="0"/>
              <a:t> que permite acceder a su valor de manera directa.</a:t>
            </a:r>
            <a:br>
              <a:rPr lang="es-MX" dirty="0"/>
            </a:br>
            <a:r>
              <a:rPr lang="es-MX" dirty="0"/>
              <a:t>Son muy útiles para manejar </a:t>
            </a:r>
            <a:r>
              <a:rPr lang="es-MX" b="1" dirty="0"/>
              <a:t>datos estructurados</a:t>
            </a:r>
            <a:r>
              <a:rPr lang="es-MX" dirty="0"/>
              <a:t>, como registros de equipos o bases de datos pequeñas.</a:t>
            </a:r>
          </a:p>
          <a:p>
            <a:r>
              <a:rPr lang="es-MX" dirty="0"/>
              <a:t>Estructura de código:</a:t>
            </a:r>
          </a:p>
          <a:p>
            <a:pPr marL="0" indent="0">
              <a:buNone/>
            </a:pPr>
            <a:r>
              <a:rPr lang="es-MX" dirty="0" err="1"/>
              <a:t>nombre_diccionario</a:t>
            </a:r>
            <a:r>
              <a:rPr lang="es-MX" dirty="0"/>
              <a:t> = {</a:t>
            </a:r>
          </a:p>
          <a:p>
            <a:pPr marL="0" indent="0">
              <a:buNone/>
            </a:pPr>
            <a:r>
              <a:rPr lang="es-MX" dirty="0"/>
              <a:t>    "clave1": valor1,</a:t>
            </a:r>
          </a:p>
          <a:p>
            <a:pPr marL="0" indent="0">
              <a:buNone/>
            </a:pPr>
            <a:r>
              <a:rPr lang="es-MX" dirty="0"/>
              <a:t>    "clave2": valor2</a:t>
            </a:r>
          </a:p>
          <a:p>
            <a:pPr marL="0" indent="0">
              <a:buNone/>
            </a:pPr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9157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EDEC8-8FE2-4957-94E7-028E579AF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644506-4247-4A0E-A28C-5765A2731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94" y="2104481"/>
            <a:ext cx="5801612" cy="26490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B5B1021-0758-4898-9F76-2E2B511B3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147" y="4961932"/>
            <a:ext cx="3041706" cy="63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52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B7EA3-9043-4FAE-8DE0-D6912CF4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Conjuntos (set)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113D6B-7F86-4A85-9829-E0E336BFB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Un </a:t>
            </a:r>
            <a:r>
              <a:rPr lang="es-MX" sz="2400" b="1" dirty="0"/>
              <a:t>conjunto</a:t>
            </a:r>
            <a:r>
              <a:rPr lang="es-MX" sz="2400" dirty="0"/>
              <a:t> es una colección </a:t>
            </a:r>
            <a:r>
              <a:rPr lang="es-MX" sz="2400" b="1" dirty="0"/>
              <a:t>no ordenada y sin elementos duplicados</a:t>
            </a:r>
            <a:r>
              <a:rPr lang="es-MX" sz="2400" dirty="0"/>
              <a:t>.</a:t>
            </a:r>
            <a:br>
              <a:rPr lang="es-MX" sz="2400" dirty="0"/>
            </a:br>
            <a:r>
              <a:rPr lang="es-MX" sz="2400" dirty="0"/>
              <a:t>Es ideal para </a:t>
            </a:r>
            <a:r>
              <a:rPr lang="es-MX" sz="2400" b="1" dirty="0"/>
              <a:t>comparar conjuntos de datos</a:t>
            </a:r>
            <a:r>
              <a:rPr lang="es-MX" sz="2400" dirty="0"/>
              <a:t>, eliminar duplicados o identificar elementos únicos.</a:t>
            </a:r>
          </a:p>
          <a:p>
            <a:r>
              <a:rPr lang="es-CO" sz="2400" dirty="0"/>
              <a:t>Estructura de código:</a:t>
            </a:r>
          </a:p>
          <a:p>
            <a:pPr marL="0" indent="0">
              <a:buNone/>
            </a:pPr>
            <a:r>
              <a:rPr lang="es-MX" sz="2400" dirty="0" err="1"/>
              <a:t>nombre_conjunto</a:t>
            </a:r>
            <a:r>
              <a:rPr lang="es-MX" sz="2400" dirty="0"/>
              <a:t> = {elemento1, elemento2, elemento3}</a:t>
            </a:r>
          </a:p>
        </p:txBody>
      </p:sp>
    </p:spTree>
    <p:extLst>
      <p:ext uri="{BB962C8B-B14F-4D97-AF65-F5344CB8AC3E}">
        <p14:creationId xmlns:p14="http://schemas.microsoft.com/office/powerpoint/2010/main" val="232543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3ED28-A1AB-4D6D-80CC-623D18C7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B731D0-03C5-4412-B96D-2C05B6EF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453" y="2211473"/>
            <a:ext cx="6845093" cy="17831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5702756-F695-4707-903E-F571684A9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453" y="4522589"/>
            <a:ext cx="6508916" cy="7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330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71574-2BEE-44FE-912C-163CA5C8D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944" y="3157755"/>
            <a:ext cx="9603275" cy="1049235"/>
          </a:xfrm>
        </p:spPr>
        <p:txBody>
          <a:bodyPr>
            <a:noAutofit/>
          </a:bodyPr>
          <a:lstStyle/>
          <a:p>
            <a:r>
              <a:rPr lang="es-CO" sz="7200" dirty="0"/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39272930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35654037-9093-4D2E-9AF1-4C277617FCC1}" vid="{9B773A3A-17AF-44D5-BBFF-882E8D5989E5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235</TotalTime>
  <Words>1887</Words>
  <Application>Microsoft Office PowerPoint</Application>
  <PresentationFormat>Panorámica</PresentationFormat>
  <Paragraphs>293</Paragraphs>
  <Slides>49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49</vt:i4>
      </vt:variant>
    </vt:vector>
  </HeadingPairs>
  <TitlesOfParts>
    <vt:vector size="67" baseType="lpstr">
      <vt:lpstr>Arial</vt:lpstr>
      <vt:lpstr>Crimson Text</vt:lpstr>
      <vt:lpstr>Gill Sans MT</vt:lpstr>
      <vt:lpstr>Josefin Sans</vt:lpstr>
      <vt:lpstr>Lato</vt:lpstr>
      <vt:lpstr>Mako</vt:lpstr>
      <vt:lpstr>Merriweather Light</vt:lpstr>
      <vt:lpstr>Montserrat</vt:lpstr>
      <vt:lpstr>Open Sans</vt:lpstr>
      <vt:lpstr>Open Sans SemiBold</vt:lpstr>
      <vt:lpstr>Proxima Nova</vt:lpstr>
      <vt:lpstr>Proxima Nova Semibold</vt:lpstr>
      <vt:lpstr>Russo One</vt:lpstr>
      <vt:lpstr>Vidaloka</vt:lpstr>
      <vt:lpstr>Tema1</vt:lpstr>
      <vt:lpstr>Slidesgo Final Pages</vt:lpstr>
      <vt:lpstr>1_Slidesgo Final Pages</vt:lpstr>
      <vt:lpstr>Galería</vt:lpstr>
      <vt:lpstr>Fundamentos de programación en Python</vt:lpstr>
      <vt:lpstr>Temáticas</vt:lpstr>
      <vt:lpstr>1. Operadores</vt:lpstr>
      <vt:lpstr>Operadores aritméticos</vt:lpstr>
      <vt:lpstr>Ejemplo</vt:lpstr>
      <vt:lpstr>Operadores lógicos</vt:lpstr>
      <vt:lpstr>Ejemplo</vt:lpstr>
      <vt:lpstr>Operadores relacionales</vt:lpstr>
      <vt:lpstr>Ejemplo</vt:lpstr>
      <vt:lpstr>Operadores de asignación</vt:lpstr>
      <vt:lpstr>Ejemplo</vt:lpstr>
      <vt:lpstr>2. Condicionales</vt:lpstr>
      <vt:lpstr>Condicional simple: if</vt:lpstr>
      <vt:lpstr>Ejemplo</vt:lpstr>
      <vt:lpstr>Condicional doble: if - else</vt:lpstr>
      <vt:lpstr>ejemplo</vt:lpstr>
      <vt:lpstr>Condicional múltiple: if - elif - else</vt:lpstr>
      <vt:lpstr>ejemplo</vt:lpstr>
      <vt:lpstr>Condicional anidado (if dentro de if)</vt:lpstr>
      <vt:lpstr>ejemplo</vt:lpstr>
      <vt:lpstr>3. Ciclos</vt:lpstr>
      <vt:lpstr>Ciclo for</vt:lpstr>
      <vt:lpstr>ejemplo</vt:lpstr>
      <vt:lpstr>Ciclo while</vt:lpstr>
      <vt:lpstr>ejemplo</vt:lpstr>
      <vt:lpstr>Uso de range() con ciclos</vt:lpstr>
      <vt:lpstr>ejemplo</vt:lpstr>
      <vt:lpstr>Instrucciones especiales: break, continue y pass</vt:lpstr>
      <vt:lpstr>ejemplo</vt:lpstr>
      <vt:lpstr>4. FUnciones</vt:lpstr>
      <vt:lpstr>Funciones sin parámetros</vt:lpstr>
      <vt:lpstr>ejemplo</vt:lpstr>
      <vt:lpstr>Funciones con parámetros</vt:lpstr>
      <vt:lpstr>ejemplo</vt:lpstr>
      <vt:lpstr>Funciones con retorno de valores</vt:lpstr>
      <vt:lpstr>ejemplo</vt:lpstr>
      <vt:lpstr>Parámetros posicionales y por defecto</vt:lpstr>
      <vt:lpstr>ejemplo</vt:lpstr>
      <vt:lpstr>5. Estructuras especiales </vt:lpstr>
      <vt:lpstr>Comparación general de estructuras</vt:lpstr>
      <vt:lpstr>Listas (list)</vt:lpstr>
      <vt:lpstr>ejemplo</vt:lpstr>
      <vt:lpstr>Tuplas (tuple)</vt:lpstr>
      <vt:lpstr>Ejemplo</vt:lpstr>
      <vt:lpstr>Diccionarios (dict)</vt:lpstr>
      <vt:lpstr>ejemplo</vt:lpstr>
      <vt:lpstr>Conjuntos (set)</vt:lpstr>
      <vt:lpstr>Ejemplo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 en Python</dc:title>
  <dc:creator>andres hernandez</dc:creator>
  <cp:lastModifiedBy>andres hernandez</cp:lastModifiedBy>
  <cp:revision>13</cp:revision>
  <dcterms:created xsi:type="dcterms:W3CDTF">2025-10-10T21:13:40Z</dcterms:created>
  <dcterms:modified xsi:type="dcterms:W3CDTF">2025-10-13T18:53:53Z</dcterms:modified>
</cp:coreProperties>
</file>